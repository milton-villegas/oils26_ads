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2000" cy="151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58"/>
  </p:normalViewPr>
  <p:slideViewPr>
    <p:cSldViewPr snapToGrid="0" snapToObjects="1">
      <p:cViewPr>
        <p:scale>
          <a:sx n="130" d="100"/>
          <a:sy n="130" d="100"/>
        </p:scale>
        <p:origin x="856" y="-5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09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Bloom artwork" descr="bloom_overlay_t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  <p:sp>
        <p:nvSpPr>
          <p:cNvPr id="5" name="Social bar"/>
          <p:cNvSpPr/>
          <p:nvPr/>
        </p:nvSpPr>
        <p:spPr>
          <a:xfrm>
            <a:off x="0" y="14724000"/>
            <a:ext cx="10692000" cy="396000"/>
          </a:xfrm>
          <a:prstGeom prst="rect">
            <a:avLst/>
          </a:prstGeom>
          <a:solidFill>
            <a:srgbClr val="0B3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0" name="Divider"/>
          <p:cNvCxnSpPr/>
          <p:nvPr/>
        </p:nvCxnSpPr>
        <p:spPr>
          <a:xfrm>
            <a:off x="752400" y="4197600"/>
            <a:ext cx="9187200" cy="0"/>
          </a:xfrm>
          <a:prstGeom prst="line">
            <a:avLst/>
          </a:prstGeom>
          <a:ln w="9900">
            <a:solidFill>
              <a:srgbClr val="4D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QR caption"/>
          <p:cNvSpPr txBox="1"/>
          <p:nvPr/>
        </p:nvSpPr>
        <p:spPr>
          <a:xfrm>
            <a:off x="8252210" y="3253800"/>
            <a:ext cx="2067981" cy="223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55" b="1" spc="223" dirty="0">
                <a:solidFill>
                  <a:schemeClr val="bg1"/>
                </a:solidFill>
                <a:latin typeface="Eurostile"/>
              </a:rPr>
              <a:t>SCAN TO REGISTER</a:t>
            </a:r>
          </a:p>
        </p:txBody>
      </p:sp>
      <p:sp>
        <p:nvSpPr>
          <p:cNvPr id="13" name="QR fallback link"/>
          <p:cNvSpPr txBox="1"/>
          <p:nvPr/>
        </p:nvSpPr>
        <p:spPr>
          <a:xfrm>
            <a:off x="7957089" y="14778170"/>
            <a:ext cx="2477511" cy="255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63" b="1" dirty="0">
                <a:solidFill>
                  <a:schemeClr val="bg1"/>
                </a:solidFill>
                <a:latin typeface="Eurostile"/>
              </a:rPr>
              <a:t>b2match.com/e/oils2026</a:t>
            </a:r>
          </a:p>
        </p:txBody>
      </p:sp>
      <p:cxnSp>
        <p:nvCxnSpPr>
          <p:cNvPr id="14" name="Agenda rule 1"/>
          <p:cNvCxnSpPr/>
          <p:nvPr/>
        </p:nvCxnSpPr>
        <p:spPr>
          <a:xfrm>
            <a:off x="633600" y="4812875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genda rule 2"/>
          <p:cNvCxnSpPr/>
          <p:nvPr/>
        </p:nvCxnSpPr>
        <p:spPr>
          <a:xfrm>
            <a:off x="633600" y="5636448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genda rule 3"/>
          <p:cNvCxnSpPr/>
          <p:nvPr/>
        </p:nvCxnSpPr>
        <p:spPr>
          <a:xfrm>
            <a:off x="633600" y="6460021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genda rule 4"/>
          <p:cNvCxnSpPr/>
          <p:nvPr/>
        </p:nvCxnSpPr>
        <p:spPr>
          <a:xfrm>
            <a:off x="633600" y="7075296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genda rule 5"/>
          <p:cNvCxnSpPr/>
          <p:nvPr/>
        </p:nvCxnSpPr>
        <p:spPr>
          <a:xfrm>
            <a:off x="633600" y="7898867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genda rule 6"/>
          <p:cNvCxnSpPr/>
          <p:nvPr/>
        </p:nvCxnSpPr>
        <p:spPr>
          <a:xfrm>
            <a:off x="633600" y="8514144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genda rule 7"/>
          <p:cNvCxnSpPr/>
          <p:nvPr/>
        </p:nvCxnSpPr>
        <p:spPr>
          <a:xfrm>
            <a:off x="633600" y="9337715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genda rule 8"/>
          <p:cNvCxnSpPr/>
          <p:nvPr/>
        </p:nvCxnSpPr>
        <p:spPr>
          <a:xfrm>
            <a:off x="633600" y="9952992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genda rule 9"/>
          <p:cNvCxnSpPr/>
          <p:nvPr/>
        </p:nvCxnSpPr>
        <p:spPr>
          <a:xfrm>
            <a:off x="633600" y="10776563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genda rule 10"/>
          <p:cNvCxnSpPr/>
          <p:nvPr/>
        </p:nvCxnSpPr>
        <p:spPr>
          <a:xfrm>
            <a:off x="633600" y="11600136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genda rule 11"/>
          <p:cNvCxnSpPr/>
          <p:nvPr/>
        </p:nvCxnSpPr>
        <p:spPr>
          <a:xfrm>
            <a:off x="633600" y="12215411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genda rule 12"/>
          <p:cNvCxnSpPr/>
          <p:nvPr/>
        </p:nvCxnSpPr>
        <p:spPr>
          <a:xfrm>
            <a:off x="633600" y="12830688"/>
            <a:ext cx="9424800" cy="0"/>
          </a:xfrm>
          <a:prstGeom prst="line">
            <a:avLst/>
          </a:prstGeom>
          <a:ln w="9900">
            <a:solidFill>
              <a:srgbClr val="354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Linkedin" descr="icon_linked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455" y="14818051"/>
            <a:ext cx="207900" cy="207900"/>
          </a:xfrm>
          <a:prstGeom prst="rect">
            <a:avLst/>
          </a:prstGeom>
        </p:spPr>
      </p:pic>
      <p:pic>
        <p:nvPicPr>
          <p:cNvPr id="27" name="Facebook" descr="icon_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355" y="14818051"/>
            <a:ext cx="207900" cy="207900"/>
          </a:xfrm>
          <a:prstGeom prst="rect">
            <a:avLst/>
          </a:prstGeom>
        </p:spPr>
      </p:pic>
      <p:pic>
        <p:nvPicPr>
          <p:cNvPr id="28" name="X" descr="icon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255" y="14818051"/>
            <a:ext cx="207900" cy="207900"/>
          </a:xfrm>
          <a:prstGeom prst="rect">
            <a:avLst/>
          </a:prstGeom>
        </p:spPr>
      </p:pic>
      <p:pic>
        <p:nvPicPr>
          <p:cNvPr id="29" name="Bluesky" descr="icon_blue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155" y="14818051"/>
            <a:ext cx="207900" cy="207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2000" y="1809880"/>
            <a:ext cx="2916619" cy="3114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86" b="1">
                <a:solidFill>
                  <a:srgbClr val="7FC4E8"/>
                </a:solidFill>
                <a:latin typeface="Eurostile"/>
              </a:rPr>
              <a:t>#OILS26 Conference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00" y="2070951"/>
            <a:ext cx="7698498" cy="9909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2" b="1" spc="-171">
                <a:solidFill>
                  <a:srgbClr val="FFFFFF"/>
                </a:solidFill>
                <a:latin typeface="Eurostile"/>
              </a:rPr>
              <a:t>From Bit to Bench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" y="2896288"/>
            <a:ext cx="5799741" cy="303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72" b="0" dirty="0">
                <a:solidFill>
                  <a:srgbClr val="C3D7EE"/>
                </a:solidFill>
                <a:latin typeface="Eurostile"/>
              </a:rPr>
              <a:t>Shaping </a:t>
            </a:r>
            <a:r>
              <a:rPr sz="1972" b="0" dirty="0" err="1">
                <a:solidFill>
                  <a:srgbClr val="C3D7EE"/>
                </a:solidFill>
                <a:latin typeface="Eurostile"/>
              </a:rPr>
              <a:t>sust</a:t>
            </a:r>
            <a:r>
              <a:rPr lang="en-US" sz="1972" b="0" dirty="0" err="1">
                <a:solidFill>
                  <a:srgbClr val="C3D7EE"/>
                </a:solidFill>
                <a:latin typeface="Eurostile"/>
              </a:rPr>
              <a:t>AI</a:t>
            </a:r>
            <a:r>
              <a:rPr sz="1972" b="0" dirty="0" err="1">
                <a:solidFill>
                  <a:srgbClr val="C3D7EE"/>
                </a:solidFill>
                <a:latin typeface="Eurostile"/>
              </a:rPr>
              <a:t>nable</a:t>
            </a:r>
            <a:r>
              <a:rPr sz="1972" b="0" dirty="0">
                <a:solidFill>
                  <a:srgbClr val="C3D7EE"/>
                </a:solidFill>
                <a:latin typeface="Eurostile"/>
              </a:rPr>
              <a:t> &amp; ethical innovation in life sciences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000" y="3298920"/>
            <a:ext cx="4003382" cy="4671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29" b="1">
                <a:solidFill>
                  <a:srgbClr val="7FC4E8"/>
                </a:solidFill>
                <a:latin typeface="Eurostile"/>
              </a:rPr>
              <a:t>20 OCTOBER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3750648"/>
            <a:ext cx="4856386" cy="3256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72" b="0">
                <a:solidFill>
                  <a:srgbClr val="E4EEFA"/>
                </a:solidFill>
                <a:latin typeface="Eurostile"/>
              </a:rPr>
              <a:t>UNIVERSITY OF ZURICH, SWITZERLAND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61200" y="4418415"/>
            <a:ext cx="2452629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1" dirty="0">
                <a:solidFill>
                  <a:srgbClr val="FFFFFF"/>
                </a:solidFill>
                <a:latin typeface="Eurostile"/>
              </a:rPr>
              <a:t>Opening Ceremony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200" y="4445713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09:00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1200" y="5062401"/>
            <a:ext cx="1565866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1" spc="229" dirty="0">
                <a:solidFill>
                  <a:srgbClr val="7FC4E8"/>
                </a:solidFill>
                <a:latin typeface="Eurostile"/>
              </a:rPr>
              <a:t>KEYNOTE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9130" y="5062401"/>
            <a:ext cx="1819436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0" dirty="0">
                <a:solidFill>
                  <a:srgbClr val="A9C3DE"/>
                </a:solidFill>
                <a:latin typeface="Eurostile"/>
              </a:rPr>
              <a:t>Lizbé Koekemoer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200" y="5069396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09:30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61200" y="5262777"/>
            <a:ext cx="5644792" cy="2607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GB" sz="1694" b="1" dirty="0">
                <a:solidFill>
                  <a:srgbClr val="FFFFFF"/>
                </a:solidFill>
                <a:latin typeface="Eurostile"/>
              </a:rPr>
              <a:t>Feeding the Models: Open Data for AI-Driven Drug Discovery</a:t>
            </a:r>
            <a:endParaRPr sz="1694" b="1" dirty="0">
              <a:solidFill>
                <a:srgbClr val="FFFFFF"/>
              </a:solidFill>
              <a:latin typeface="Eurostile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61200" y="5885974"/>
            <a:ext cx="1078223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1" spc="229">
                <a:solidFill>
                  <a:srgbClr val="7FC4E8"/>
                </a:solidFill>
                <a:latin typeface="Eurostile"/>
              </a:rPr>
              <a:t>PANEL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3676" y="5885974"/>
            <a:ext cx="3717628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dirty="0">
                <a:solidFill>
                  <a:srgbClr val="A9C3DE"/>
                </a:solidFill>
                <a:latin typeface="Eurostile"/>
              </a:rPr>
              <a:t>Jilles Vreeken · Ellen Carbo · Fergus Imrie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00" y="5853002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10:15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1200" y="6086350"/>
            <a:ext cx="8380221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1">
                <a:solidFill>
                  <a:srgbClr val="FFFFFF"/>
                </a:solidFill>
                <a:latin typeface="Eurostile"/>
              </a:rPr>
              <a:t>Scientific AI: Data Quality, Limitations &amp; the Future of Models That Understand Science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61200" y="6680836"/>
            <a:ext cx="1746287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0" dirty="0">
                <a:solidFill>
                  <a:srgbClr val="9DB6D2"/>
                </a:solidFill>
                <a:latin typeface="Eurostile"/>
              </a:rPr>
              <a:t>Coffee Break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400" y="6668086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11:15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61200" y="7324820"/>
            <a:ext cx="1794765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1" spc="229">
                <a:solidFill>
                  <a:srgbClr val="7FC4E8"/>
                </a:solidFill>
                <a:latin typeface="Eurostile"/>
              </a:rPr>
              <a:t>WORKSHOP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0898" y="7324820"/>
            <a:ext cx="3105428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0">
                <a:solidFill>
                  <a:srgbClr val="A9C3DE"/>
                </a:solidFill>
                <a:latin typeface="Eurostile"/>
              </a:rPr>
              <a:t>Sebastian Kahlert · Pernilla Sörme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200" y="7333009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11:45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61200" y="7525196"/>
            <a:ext cx="3332914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1">
                <a:solidFill>
                  <a:srgbClr val="FFFFFF"/>
                </a:solidFill>
                <a:latin typeface="Eurostile"/>
              </a:rPr>
              <a:t>Sustainable Practice in the Lab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61200" y="8119682"/>
            <a:ext cx="1685632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0" dirty="0">
                <a:solidFill>
                  <a:srgbClr val="9DB6D2"/>
                </a:solidFill>
                <a:latin typeface="Eurostile"/>
              </a:rPr>
              <a:t>Lunch Break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200" y="8106934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13:00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61200" y="8763668"/>
            <a:ext cx="1794765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1" spc="229">
                <a:solidFill>
                  <a:srgbClr val="7FC4E8"/>
                </a:solidFill>
                <a:latin typeface="Eurostile"/>
              </a:rPr>
              <a:t>WORKSHOP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0821" y="8763668"/>
            <a:ext cx="1492548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0">
                <a:solidFill>
                  <a:srgbClr val="A9C3DE"/>
                </a:solidFill>
                <a:latin typeface="Eurostile"/>
              </a:rPr>
              <a:t>Joseph Heng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2400" y="8732370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14:00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61200" y="8964046"/>
            <a:ext cx="8121946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1">
                <a:solidFill>
                  <a:srgbClr val="FFFFFF"/>
                </a:solidFill>
                <a:latin typeface="Eurostile"/>
              </a:rPr>
              <a:t>Accessing &amp; Using Open AI Tools, Pre-trained Models and Datasets for Life Sciences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61200" y="9558530"/>
            <a:ext cx="1746287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0">
                <a:solidFill>
                  <a:srgbClr val="9DB6D2"/>
                </a:solidFill>
                <a:latin typeface="Eurostile"/>
              </a:rPr>
              <a:t>Coffee Break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400" y="9547790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15:15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61200" y="10202516"/>
            <a:ext cx="1565866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1" spc="229">
                <a:solidFill>
                  <a:srgbClr val="7FC4E8"/>
                </a:solidFill>
                <a:latin typeface="Eurostile"/>
              </a:rPr>
              <a:t>KEYNOTE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39053" y="10202516"/>
            <a:ext cx="1961378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0">
                <a:solidFill>
                  <a:srgbClr val="A9C3DE"/>
                </a:solidFill>
                <a:latin typeface="Eurostile"/>
              </a:rPr>
              <a:t>Nicoletta Iacobacci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200" y="10170073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15:45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61200" y="10402892"/>
            <a:ext cx="5231426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1">
                <a:solidFill>
                  <a:srgbClr val="FFFFFF"/>
                </a:solidFill>
                <a:latin typeface="Eurostile"/>
              </a:rPr>
              <a:t>The Missing Behavioral Layer in AI-Assisted Science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61200" y="11026089"/>
            <a:ext cx="1507964" cy="223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1" b="1" spc="229">
                <a:solidFill>
                  <a:srgbClr val="7FC4E8"/>
                </a:solidFill>
                <a:latin typeface="Eurostile"/>
              </a:rPr>
              <a:t>PITCHFEST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2400" y="11013043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16:30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61200" y="11226465"/>
            <a:ext cx="4003457" cy="260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94" b="1" dirty="0">
                <a:solidFill>
                  <a:srgbClr val="FFFFFF"/>
                </a:solidFill>
                <a:latin typeface="Eurostile"/>
              </a:rPr>
              <a:t>Emerging Voices: </a:t>
            </a:r>
            <a:r>
              <a:rPr lang="en-US" sz="1694" b="1" dirty="0">
                <a:solidFill>
                  <a:srgbClr val="FFFFFF"/>
                </a:solidFill>
                <a:latin typeface="Eurostile"/>
              </a:rPr>
              <a:t>Early-career researchers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61200" y="11820951"/>
            <a:ext cx="4520584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1">
                <a:solidFill>
                  <a:srgbClr val="FFFFFF"/>
                </a:solidFill>
                <a:latin typeface="Eurostile"/>
              </a:rPr>
              <a:t>Closing Ceremony — Pitch Winner Awards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400" y="11826659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17:30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61200" y="12436226"/>
            <a:ext cx="2255009" cy="2797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94" b="0" dirty="0">
                <a:solidFill>
                  <a:srgbClr val="9DB6D2"/>
                </a:solidFill>
                <a:latin typeface="Eurostile"/>
              </a:rPr>
              <a:t>Networking </a:t>
            </a:r>
            <a:r>
              <a:rPr sz="1694" b="0" dirty="0" err="1">
                <a:solidFill>
                  <a:srgbClr val="9DB6D2"/>
                </a:solidFill>
                <a:latin typeface="Eurostile"/>
              </a:rPr>
              <a:t>Apéro</a:t>
            </a:r>
            <a:endParaRPr sz="1629" b="0" dirty="0">
              <a:solidFill>
                <a:srgbClr val="9DB6D2"/>
              </a:solidFill>
              <a:latin typeface="Eurostile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72200" y="12443514"/>
            <a:ext cx="1229937" cy="2972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7FC4E8"/>
                </a:solidFill>
                <a:latin typeface="Eurostile"/>
              </a:rPr>
              <a:t>17:45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7400" y="14800506"/>
            <a:ext cx="1712274" cy="2689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29" b="1">
                <a:solidFill>
                  <a:srgbClr val="FFFFFF"/>
                </a:solidFill>
                <a:latin typeface="Eurostile"/>
              </a:rPr>
              <a:t>Follow us on: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90355" y="14800506"/>
            <a:ext cx="2165031" cy="2689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29" b="0">
                <a:solidFill>
                  <a:srgbClr val="FFFFFF"/>
                </a:solidFill>
                <a:latin typeface="Eurostile"/>
              </a:rPr>
              <a:t>@OpenLifescience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DCFCD534-4269-1263-50BC-61A41E8EC2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2800" y="1801800"/>
            <a:ext cx="1306800" cy="13068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B7A5AC0-0F2C-60A2-56AF-A053F2BC3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000" y="550076"/>
            <a:ext cx="2455200" cy="1099275"/>
          </a:xfrm>
          <a:prstGeom prst="rect">
            <a:avLst/>
          </a:prstGeom>
        </p:spPr>
      </p:pic>
      <p:sp>
        <p:nvSpPr>
          <p:cNvPr id="75" name="Sponsor band"/>
          <p:cNvSpPr/>
          <p:nvPr/>
        </p:nvSpPr>
        <p:spPr>
          <a:xfrm>
            <a:off x="0" y="13117873"/>
            <a:ext cx="10692465" cy="16035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4" tIns="45712" rIns="91444" bIns="45712" rtlCol="0" anchor="ctr"/>
          <a:lstStyle/>
          <a:p>
            <a:pPr>
              <a:defRPr/>
            </a:pPr>
            <a:endParaRPr dirty="0"/>
          </a:p>
        </p:txBody>
      </p:sp>
      <p:pic>
        <p:nvPicPr>
          <p:cNvPr id="76" name="Picture 6">
            <a:extLst>
              <a:ext uri="{FF2B5EF4-FFF2-40B4-BE49-F238E27FC236}">
                <a16:creationId xmlns:a16="http://schemas.microsoft.com/office/drawing/2014/main" id="{53F40EC9-2AEF-A346-8B84-49A81D8D664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30" b="17768"/>
          <a:stretch>
            <a:fillRect/>
          </a:stretch>
        </p:blipFill>
        <p:spPr>
          <a:xfrm>
            <a:off x="1924810" y="13827837"/>
            <a:ext cx="2117183" cy="787280"/>
          </a:xfrm>
          <a:prstGeom prst="rect">
            <a:avLst/>
          </a:prstGeom>
        </p:spPr>
      </p:pic>
      <p:pic>
        <p:nvPicPr>
          <p:cNvPr id="77" name="Picture 32">
            <a:extLst>
              <a:ext uri="{FF2B5EF4-FFF2-40B4-BE49-F238E27FC236}">
                <a16:creationId xmlns:a16="http://schemas.microsoft.com/office/drawing/2014/main" id="{763559B4-6F1F-ADEA-86EF-F5E6C7C6AD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6594" y="13273259"/>
            <a:ext cx="2620826" cy="503088"/>
          </a:xfrm>
          <a:prstGeom prst="rect">
            <a:avLst/>
          </a:prstGeom>
        </p:spPr>
      </p:pic>
      <p:pic>
        <p:nvPicPr>
          <p:cNvPr id="78" name="Picture 36">
            <a:extLst>
              <a:ext uri="{FF2B5EF4-FFF2-40B4-BE49-F238E27FC236}">
                <a16:creationId xmlns:a16="http://schemas.microsoft.com/office/drawing/2014/main" id="{AE5DE71B-7F10-6423-CEE2-BB95362EBB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9123" y="13428579"/>
            <a:ext cx="1674546" cy="399026"/>
          </a:xfrm>
          <a:prstGeom prst="rect">
            <a:avLst/>
          </a:prstGeom>
        </p:spPr>
      </p:pic>
      <p:pic>
        <p:nvPicPr>
          <p:cNvPr id="79" name="Picture 44">
            <a:extLst>
              <a:ext uri="{FF2B5EF4-FFF2-40B4-BE49-F238E27FC236}">
                <a16:creationId xmlns:a16="http://schemas.microsoft.com/office/drawing/2014/main" id="{F1D3585E-0B55-6646-7D4B-1173465E35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9330" y="14139510"/>
            <a:ext cx="2085786" cy="292424"/>
          </a:xfrm>
          <a:prstGeom prst="rect">
            <a:avLst/>
          </a:prstGeom>
        </p:spPr>
      </p:pic>
      <p:sp>
        <p:nvSpPr>
          <p:cNvPr id="80" name="QR caption">
            <a:extLst>
              <a:ext uri="{FF2B5EF4-FFF2-40B4-BE49-F238E27FC236}">
                <a16:creationId xmlns:a16="http://schemas.microsoft.com/office/drawing/2014/main" id="{4DA45078-569E-F991-4C4C-4A90273EC8AC}"/>
              </a:ext>
            </a:extLst>
          </p:cNvPr>
          <p:cNvSpPr txBox="1"/>
          <p:nvPr/>
        </p:nvSpPr>
        <p:spPr>
          <a:xfrm>
            <a:off x="177378" y="13218842"/>
            <a:ext cx="2577590" cy="2558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/>
            </a:pPr>
            <a:r>
              <a:rPr lang="en-US" sz="1663" b="1" spc="79" dirty="0">
                <a:latin typeface="Eurostile"/>
              </a:rPr>
              <a:t>Sponsors &amp; Partners:</a:t>
            </a:r>
            <a:endParaRPr sz="587" b="1" spc="79" dirty="0">
              <a:latin typeface="Eurostile"/>
            </a:endParaRPr>
          </a:p>
        </p:txBody>
      </p:sp>
      <p:pic>
        <p:nvPicPr>
          <p:cNvPr id="81" name="Picture 5">
            <a:extLst>
              <a:ext uri="{FF2B5EF4-FFF2-40B4-BE49-F238E27FC236}">
                <a16:creationId xmlns:a16="http://schemas.microsoft.com/office/drawing/2014/main" id="{605173DF-2B06-5C66-1DD8-521179CD5B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3360" y="13960962"/>
            <a:ext cx="1888319" cy="658799"/>
          </a:xfrm>
          <a:prstGeom prst="rect">
            <a:avLst/>
          </a:prstGeom>
        </p:spPr>
      </p:pic>
      <p:pic>
        <p:nvPicPr>
          <p:cNvPr id="82" name="Picture 8">
            <a:extLst>
              <a:ext uri="{FF2B5EF4-FFF2-40B4-BE49-F238E27FC236}">
                <a16:creationId xmlns:a16="http://schemas.microsoft.com/office/drawing/2014/main" id="{FB8D8494-46A6-6649-595D-4A9CDAC4DF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5315" y="13319047"/>
            <a:ext cx="1802175" cy="497780"/>
          </a:xfrm>
          <a:prstGeom prst="rect">
            <a:avLst/>
          </a:prstGeom>
        </p:spPr>
      </p:pic>
      <p:grpSp>
        <p:nvGrpSpPr>
          <p:cNvPr id="83" name="Group 26">
            <a:extLst>
              <a:ext uri="{FF2B5EF4-FFF2-40B4-BE49-F238E27FC236}">
                <a16:creationId xmlns:a16="http://schemas.microsoft.com/office/drawing/2014/main" id="{02BBC28E-BD9D-803F-2618-8C458A74952A}"/>
              </a:ext>
            </a:extLst>
          </p:cNvPr>
          <p:cNvGrpSpPr/>
          <p:nvPr/>
        </p:nvGrpSpPr>
        <p:grpSpPr>
          <a:xfrm>
            <a:off x="8690278" y="14145244"/>
            <a:ext cx="1484206" cy="428095"/>
            <a:chOff x="299560" y="9410774"/>
            <a:chExt cx="1915412" cy="552592"/>
          </a:xfrm>
        </p:grpSpPr>
        <p:pic>
          <p:nvPicPr>
            <p:cNvPr id="84" name="Picture 27">
              <a:extLst>
                <a:ext uri="{FF2B5EF4-FFF2-40B4-BE49-F238E27FC236}">
                  <a16:creationId xmlns:a16="http://schemas.microsoft.com/office/drawing/2014/main" id="{CBDB0F38-4830-BDAE-17CA-CBD9D89B3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0685" t="11110" r="7847" b="50497"/>
            <a:stretch>
              <a:fillRect/>
            </a:stretch>
          </p:blipFill>
          <p:spPr>
            <a:xfrm>
              <a:off x="299560" y="9410774"/>
              <a:ext cx="1028626" cy="552592"/>
            </a:xfrm>
            <a:prstGeom prst="rect">
              <a:avLst/>
            </a:prstGeom>
          </p:spPr>
        </p:pic>
        <p:pic>
          <p:nvPicPr>
            <p:cNvPr id="85" name="Picture 28">
              <a:extLst>
                <a:ext uri="{FF2B5EF4-FFF2-40B4-BE49-F238E27FC236}">
                  <a16:creationId xmlns:a16="http://schemas.microsoft.com/office/drawing/2014/main" id="{7B713F00-4D54-40F8-CF3D-2F171CFF5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8183" t="50812" r="7847" b="15553"/>
            <a:stretch>
              <a:fillRect/>
            </a:stretch>
          </p:blipFill>
          <p:spPr>
            <a:xfrm>
              <a:off x="1087974" y="9461350"/>
              <a:ext cx="1126998" cy="451440"/>
            </a:xfrm>
            <a:prstGeom prst="rect">
              <a:avLst/>
            </a:prstGeom>
          </p:spPr>
        </p:pic>
      </p:grpSp>
      <p:pic>
        <p:nvPicPr>
          <p:cNvPr id="86" name="Picture 31">
            <a:extLst>
              <a:ext uri="{FF2B5EF4-FFF2-40B4-BE49-F238E27FC236}">
                <a16:creationId xmlns:a16="http://schemas.microsoft.com/office/drawing/2014/main" id="{6FA3AB71-FF2E-603C-3374-588AAC91C4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79936" y="13250228"/>
            <a:ext cx="1565849" cy="813736"/>
          </a:xfrm>
          <a:prstGeom prst="rect">
            <a:avLst/>
          </a:prstGeom>
        </p:spPr>
      </p:pic>
      <p:grpSp>
        <p:nvGrpSpPr>
          <p:cNvPr id="87" name="Group 34">
            <a:extLst>
              <a:ext uri="{FF2B5EF4-FFF2-40B4-BE49-F238E27FC236}">
                <a16:creationId xmlns:a16="http://schemas.microsoft.com/office/drawing/2014/main" id="{5FBC1783-BFB6-9D4C-8397-4D44D02FEA64}"/>
              </a:ext>
            </a:extLst>
          </p:cNvPr>
          <p:cNvGrpSpPr/>
          <p:nvPr/>
        </p:nvGrpSpPr>
        <p:grpSpPr>
          <a:xfrm>
            <a:off x="167346" y="13499123"/>
            <a:ext cx="1667171" cy="1088309"/>
            <a:chOff x="13748420" y="38189357"/>
            <a:chExt cx="4720721" cy="3081629"/>
          </a:xfrm>
        </p:grpSpPr>
        <p:pic>
          <p:nvPicPr>
            <p:cNvPr id="88" name="Picture 30">
              <a:extLst>
                <a:ext uri="{FF2B5EF4-FFF2-40B4-BE49-F238E27FC236}">
                  <a16:creationId xmlns:a16="http://schemas.microsoft.com/office/drawing/2014/main" id="{F8796036-FA9D-15CA-1BEB-983885F76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748420" y="38189357"/>
              <a:ext cx="4720721" cy="2651988"/>
            </a:xfrm>
            <a:prstGeom prst="rect">
              <a:avLst/>
            </a:prstGeom>
          </p:spPr>
        </p:pic>
        <p:sp>
          <p:nvSpPr>
            <p:cNvPr id="89" name="TextBox 33">
              <a:extLst>
                <a:ext uri="{FF2B5EF4-FFF2-40B4-BE49-F238E27FC236}">
                  <a16:creationId xmlns:a16="http://schemas.microsoft.com/office/drawing/2014/main" id="{5B858EAF-2069-7D82-4081-AA7985F37DE0}"/>
                </a:ext>
              </a:extLst>
            </p:cNvPr>
            <p:cNvSpPr txBox="1"/>
            <p:nvPr/>
          </p:nvSpPr>
          <p:spPr>
            <a:xfrm>
              <a:off x="14483064" y="40778543"/>
              <a:ext cx="3321422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>
                <a:defRPr/>
              </a:pPr>
              <a:r>
                <a:rPr lang="en-GB" sz="1130" dirty="0" err="1">
                  <a:solidFill>
                    <a:schemeClr val="tx2"/>
                  </a:solidFill>
                  <a:latin typeface="Eurostile"/>
                </a:rPr>
                <a:t>www.biologists.com</a:t>
              </a:r>
              <a:endParaRPr sz="388" b="0" dirty="0">
                <a:solidFill>
                  <a:schemeClr val="tx2"/>
                </a:solidFill>
                <a:latin typeface="Eurostil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158</Words>
  <Application>Microsoft Macintosh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Eurostile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OILS</dc:creator>
  <cp:keywords/>
  <dc:description/>
  <cp:lastModifiedBy>OILS</cp:lastModifiedBy>
  <cp:revision>10</cp:revision>
  <dcterms:created xsi:type="dcterms:W3CDTF">2013-01-27T09:14:16Z</dcterms:created>
  <dcterms:modified xsi:type="dcterms:W3CDTF">2026-10-02T14:48:47Z</dcterms:modified>
  <cp:category/>
</cp:coreProperties>
</file>