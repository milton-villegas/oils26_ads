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0692000" cy="1512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86"/>
    <p:restoredTop sz="94658"/>
  </p:normalViewPr>
  <p:slideViewPr>
    <p:cSldViewPr snapToGrid="0" snapToObjects="1">
      <p:cViewPr>
        <p:scale>
          <a:sx n="130" d="100"/>
          <a:sy n="130" d="100"/>
        </p:scale>
        <p:origin x="856" y="-51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0692000" cy="15120000"/>
          </a:xfrm>
          <a:prstGeom prst="rect">
            <a:avLst/>
          </a:prstGeom>
          <a:solidFill>
            <a:srgbClr val="091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Bloom artwork" descr="bloom_overlay_tr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0"/>
            <a:ext cx="10692000" cy="15120000"/>
          </a:xfrm>
          <a:prstGeom prst="rect">
            <a:avLst/>
          </a:prstGeom>
        </p:spPr>
      </p:pic>
      <p:sp>
        <p:nvSpPr>
          <p:cNvPr id="5" name="Social bar"/>
          <p:cNvSpPr/>
          <p:nvPr/>
        </p:nvSpPr>
        <p:spPr>
          <a:xfrm>
            <a:off x="0" y="14724000"/>
            <a:ext cx="10692000" cy="396000"/>
          </a:xfrm>
          <a:prstGeom prst="rect">
            <a:avLst/>
          </a:prstGeom>
          <a:solidFill>
            <a:srgbClr val="0B3E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0" name="Divider"/>
          <p:cNvCxnSpPr/>
          <p:nvPr/>
        </p:nvCxnSpPr>
        <p:spPr>
          <a:xfrm>
            <a:off x="752400" y="4197600"/>
            <a:ext cx="9187200" cy="0"/>
          </a:xfrm>
          <a:prstGeom prst="line">
            <a:avLst/>
          </a:prstGeom>
          <a:ln w="9900">
            <a:solidFill>
              <a:srgbClr val="4D5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QR caption"/>
          <p:cNvSpPr txBox="1"/>
          <p:nvPr/>
        </p:nvSpPr>
        <p:spPr>
          <a:xfrm>
            <a:off x="8252210" y="3253800"/>
            <a:ext cx="2067981" cy="22392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55" b="1" spc="223" dirty="0">
                <a:solidFill>
                  <a:schemeClr val="bg1"/>
                </a:solidFill>
                <a:latin typeface="Eurostile"/>
              </a:rPr>
              <a:t>SCAN TO REGISTER</a:t>
            </a:r>
          </a:p>
        </p:txBody>
      </p:sp>
      <p:sp>
        <p:nvSpPr>
          <p:cNvPr id="13" name="QR fallback link"/>
          <p:cNvSpPr txBox="1"/>
          <p:nvPr/>
        </p:nvSpPr>
        <p:spPr>
          <a:xfrm>
            <a:off x="7957089" y="14778170"/>
            <a:ext cx="2477511" cy="25591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63" b="1" dirty="0">
                <a:solidFill>
                  <a:schemeClr val="bg1"/>
                </a:solidFill>
                <a:latin typeface="Eurostile"/>
              </a:rPr>
              <a:t>b2match.com/e/oils2026</a:t>
            </a:r>
          </a:p>
        </p:txBody>
      </p:sp>
      <p:cxnSp>
        <p:nvCxnSpPr>
          <p:cNvPr id="14" name="Agenda rule 1"/>
          <p:cNvCxnSpPr/>
          <p:nvPr/>
        </p:nvCxnSpPr>
        <p:spPr>
          <a:xfrm>
            <a:off x="633600" y="4812875"/>
            <a:ext cx="9424800" cy="0"/>
          </a:xfrm>
          <a:prstGeom prst="line">
            <a:avLst/>
          </a:prstGeom>
          <a:ln w="9900">
            <a:solidFill>
              <a:srgbClr val="3545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Agenda rule 2"/>
          <p:cNvCxnSpPr/>
          <p:nvPr/>
        </p:nvCxnSpPr>
        <p:spPr>
          <a:xfrm>
            <a:off x="633600" y="5636448"/>
            <a:ext cx="9424800" cy="0"/>
          </a:xfrm>
          <a:prstGeom prst="line">
            <a:avLst/>
          </a:prstGeom>
          <a:ln w="9900">
            <a:solidFill>
              <a:srgbClr val="3545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Agenda rule 3"/>
          <p:cNvCxnSpPr/>
          <p:nvPr/>
        </p:nvCxnSpPr>
        <p:spPr>
          <a:xfrm>
            <a:off x="633600" y="6460021"/>
            <a:ext cx="9424800" cy="0"/>
          </a:xfrm>
          <a:prstGeom prst="line">
            <a:avLst/>
          </a:prstGeom>
          <a:ln w="9900">
            <a:solidFill>
              <a:srgbClr val="3545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Agenda rule 4"/>
          <p:cNvCxnSpPr/>
          <p:nvPr/>
        </p:nvCxnSpPr>
        <p:spPr>
          <a:xfrm>
            <a:off x="633600" y="7075296"/>
            <a:ext cx="9424800" cy="0"/>
          </a:xfrm>
          <a:prstGeom prst="line">
            <a:avLst/>
          </a:prstGeom>
          <a:ln w="9900">
            <a:solidFill>
              <a:srgbClr val="3545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Agenda rule 5"/>
          <p:cNvCxnSpPr/>
          <p:nvPr/>
        </p:nvCxnSpPr>
        <p:spPr>
          <a:xfrm>
            <a:off x="633600" y="7898867"/>
            <a:ext cx="9424800" cy="0"/>
          </a:xfrm>
          <a:prstGeom prst="line">
            <a:avLst/>
          </a:prstGeom>
          <a:ln w="9900">
            <a:solidFill>
              <a:srgbClr val="3545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Agenda rule 6"/>
          <p:cNvCxnSpPr/>
          <p:nvPr/>
        </p:nvCxnSpPr>
        <p:spPr>
          <a:xfrm>
            <a:off x="633600" y="8514144"/>
            <a:ext cx="9424800" cy="0"/>
          </a:xfrm>
          <a:prstGeom prst="line">
            <a:avLst/>
          </a:prstGeom>
          <a:ln w="9900">
            <a:solidFill>
              <a:srgbClr val="3545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Agenda rule 7"/>
          <p:cNvCxnSpPr/>
          <p:nvPr/>
        </p:nvCxnSpPr>
        <p:spPr>
          <a:xfrm>
            <a:off x="633600" y="9337715"/>
            <a:ext cx="9424800" cy="0"/>
          </a:xfrm>
          <a:prstGeom prst="line">
            <a:avLst/>
          </a:prstGeom>
          <a:ln w="9900">
            <a:solidFill>
              <a:srgbClr val="3545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Agenda rule 8"/>
          <p:cNvCxnSpPr/>
          <p:nvPr/>
        </p:nvCxnSpPr>
        <p:spPr>
          <a:xfrm>
            <a:off x="633600" y="9952992"/>
            <a:ext cx="9424800" cy="0"/>
          </a:xfrm>
          <a:prstGeom prst="line">
            <a:avLst/>
          </a:prstGeom>
          <a:ln w="9900">
            <a:solidFill>
              <a:srgbClr val="3545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Agenda rule 9"/>
          <p:cNvCxnSpPr/>
          <p:nvPr/>
        </p:nvCxnSpPr>
        <p:spPr>
          <a:xfrm>
            <a:off x="633600" y="10776563"/>
            <a:ext cx="9424800" cy="0"/>
          </a:xfrm>
          <a:prstGeom prst="line">
            <a:avLst/>
          </a:prstGeom>
          <a:ln w="9900">
            <a:solidFill>
              <a:srgbClr val="3545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Agenda rule 10"/>
          <p:cNvCxnSpPr/>
          <p:nvPr/>
        </p:nvCxnSpPr>
        <p:spPr>
          <a:xfrm>
            <a:off x="633600" y="11600136"/>
            <a:ext cx="9424800" cy="0"/>
          </a:xfrm>
          <a:prstGeom prst="line">
            <a:avLst/>
          </a:prstGeom>
          <a:ln w="9900">
            <a:solidFill>
              <a:srgbClr val="3545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Agenda rule 11"/>
          <p:cNvCxnSpPr/>
          <p:nvPr/>
        </p:nvCxnSpPr>
        <p:spPr>
          <a:xfrm>
            <a:off x="633600" y="12215411"/>
            <a:ext cx="9424800" cy="0"/>
          </a:xfrm>
          <a:prstGeom prst="line">
            <a:avLst/>
          </a:prstGeom>
          <a:ln w="9900">
            <a:solidFill>
              <a:srgbClr val="3545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Agenda rule 12"/>
          <p:cNvCxnSpPr/>
          <p:nvPr/>
        </p:nvCxnSpPr>
        <p:spPr>
          <a:xfrm>
            <a:off x="633600" y="12830688"/>
            <a:ext cx="9424800" cy="0"/>
          </a:xfrm>
          <a:prstGeom prst="line">
            <a:avLst/>
          </a:prstGeom>
          <a:ln w="9900">
            <a:solidFill>
              <a:srgbClr val="3545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" name="Linkedin" descr="icon_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3455" y="14818051"/>
            <a:ext cx="207900" cy="207900"/>
          </a:xfrm>
          <a:prstGeom prst="rect">
            <a:avLst/>
          </a:prstGeom>
        </p:spPr>
      </p:pic>
      <p:pic>
        <p:nvPicPr>
          <p:cNvPr id="27" name="Facebook" descr="icon_faceboo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0355" y="14818051"/>
            <a:ext cx="207900" cy="207900"/>
          </a:xfrm>
          <a:prstGeom prst="rect">
            <a:avLst/>
          </a:prstGeom>
        </p:spPr>
      </p:pic>
      <p:pic>
        <p:nvPicPr>
          <p:cNvPr id="28" name="X" descr="icon_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255" y="14818051"/>
            <a:ext cx="207900" cy="207900"/>
          </a:xfrm>
          <a:prstGeom prst="rect">
            <a:avLst/>
          </a:prstGeom>
        </p:spPr>
      </p:pic>
      <p:pic>
        <p:nvPicPr>
          <p:cNvPr id="29" name="Bluesky" descr="icon_bluesk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155" y="14818051"/>
            <a:ext cx="207900" cy="2079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92000" y="1809880"/>
            <a:ext cx="2916619" cy="31145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86" b="1">
                <a:solidFill>
                  <a:srgbClr val="7FC4E8"/>
                </a:solidFill>
                <a:latin typeface="Eurostile"/>
              </a:rPr>
              <a:t>#OILS26 Conference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400" y="2070951"/>
            <a:ext cx="7698498" cy="99098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6002" b="1" spc="-171">
                <a:solidFill>
                  <a:srgbClr val="FFFFFF"/>
                </a:solidFill>
                <a:latin typeface="Eurostile"/>
              </a:rPr>
              <a:t>From Bit to Bench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2000" y="2896288"/>
            <a:ext cx="5799741" cy="30343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972" b="0" dirty="0">
                <a:solidFill>
                  <a:srgbClr val="C3D7EE"/>
                </a:solidFill>
                <a:latin typeface="Eurostile"/>
              </a:rPr>
              <a:t>Shaping </a:t>
            </a:r>
            <a:r>
              <a:rPr sz="1972" b="0" dirty="0" err="1">
                <a:solidFill>
                  <a:srgbClr val="C3D7EE"/>
                </a:solidFill>
                <a:latin typeface="Eurostile"/>
              </a:rPr>
              <a:t>sust</a:t>
            </a:r>
            <a:r>
              <a:rPr lang="en-US" sz="1972" b="0" dirty="0" err="1">
                <a:solidFill>
                  <a:srgbClr val="C3D7EE"/>
                </a:solidFill>
                <a:latin typeface="Eurostile"/>
              </a:rPr>
              <a:t>AI</a:t>
            </a:r>
            <a:r>
              <a:rPr sz="1972" b="0" dirty="0" err="1">
                <a:solidFill>
                  <a:srgbClr val="C3D7EE"/>
                </a:solidFill>
                <a:latin typeface="Eurostile"/>
              </a:rPr>
              <a:t>nable</a:t>
            </a:r>
            <a:r>
              <a:rPr sz="1972" b="0" dirty="0">
                <a:solidFill>
                  <a:srgbClr val="C3D7EE"/>
                </a:solidFill>
                <a:latin typeface="Eurostile"/>
              </a:rPr>
              <a:t> &amp; ethical innovation in life sciences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2000" y="3298920"/>
            <a:ext cx="4003382" cy="46718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29" b="1">
                <a:solidFill>
                  <a:srgbClr val="7FC4E8"/>
                </a:solidFill>
                <a:latin typeface="Eurostile"/>
              </a:rPr>
              <a:t>20 OCTOBER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3750648"/>
            <a:ext cx="4856386" cy="32561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972" b="0">
                <a:solidFill>
                  <a:srgbClr val="E4EEFA"/>
                </a:solidFill>
                <a:latin typeface="Eurostile"/>
              </a:rPr>
              <a:t>UNIVERSITY OF ZURICH, SWITZERLAND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61200" y="4418415"/>
            <a:ext cx="2452629" cy="2797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94" b="1" dirty="0">
                <a:solidFill>
                  <a:srgbClr val="FFFFFF"/>
                </a:solidFill>
                <a:latin typeface="Eurostile"/>
              </a:rPr>
              <a:t>Opening Ceremony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2200" y="4445713"/>
            <a:ext cx="1229937" cy="2972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7FC4E8"/>
                </a:solidFill>
                <a:latin typeface="Eurostile"/>
              </a:rPr>
              <a:t>09:00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61200" y="5062401"/>
            <a:ext cx="1565866" cy="223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1" b="1" spc="229" dirty="0">
                <a:solidFill>
                  <a:srgbClr val="7FC4E8"/>
                </a:solidFill>
                <a:latin typeface="Eurostile"/>
              </a:rPr>
              <a:t>KEYNOTE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39130" y="5062401"/>
            <a:ext cx="1819436" cy="223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1" b="0" dirty="0">
                <a:solidFill>
                  <a:srgbClr val="A9C3DE"/>
                </a:solidFill>
                <a:latin typeface="Eurostile"/>
              </a:rPr>
              <a:t>Lizbé Koekemoer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200" y="5069396"/>
            <a:ext cx="1229937" cy="2972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7FC4E8"/>
                </a:solidFill>
                <a:latin typeface="Eurostile"/>
              </a:rPr>
              <a:t>09:30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61200" y="5262777"/>
            <a:ext cx="5644792" cy="26071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GB" sz="1694" b="1" dirty="0">
                <a:solidFill>
                  <a:srgbClr val="FFFFFF"/>
                </a:solidFill>
                <a:latin typeface="Eurostile"/>
              </a:rPr>
              <a:t>Feeding the Models: Open Data for AI-Driven Drug Discovery</a:t>
            </a:r>
            <a:endParaRPr sz="1694" b="1" dirty="0">
              <a:solidFill>
                <a:srgbClr val="FFFFFF"/>
              </a:solidFill>
              <a:latin typeface="Eurostile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861200" y="5885974"/>
            <a:ext cx="1078223" cy="223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1" b="1" spc="229">
                <a:solidFill>
                  <a:srgbClr val="7FC4E8"/>
                </a:solidFill>
                <a:latin typeface="Eurostile"/>
              </a:rPr>
              <a:t>PANEL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93676" y="5885974"/>
            <a:ext cx="3717628" cy="223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1" dirty="0">
                <a:solidFill>
                  <a:srgbClr val="A9C3DE"/>
                </a:solidFill>
                <a:latin typeface="Eurostile"/>
              </a:rPr>
              <a:t>Jilles Vreeken · Ellen Carbo · Fergus Imrie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2400" y="5853002"/>
            <a:ext cx="1229937" cy="2972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7FC4E8"/>
                </a:solidFill>
                <a:latin typeface="Eurostile"/>
              </a:rPr>
              <a:t>10:15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61200" y="6086350"/>
            <a:ext cx="8380221" cy="2797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94" b="1">
                <a:solidFill>
                  <a:srgbClr val="FFFFFF"/>
                </a:solidFill>
                <a:latin typeface="Eurostile"/>
              </a:rPr>
              <a:t>Scientific AI: Data Quality, Limitations &amp; the Future of Models That Understand Science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61200" y="6680836"/>
            <a:ext cx="1746287" cy="2797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94" b="0" dirty="0">
                <a:solidFill>
                  <a:srgbClr val="9DB6D2"/>
                </a:solidFill>
                <a:latin typeface="Eurostile"/>
              </a:rPr>
              <a:t>Coffee Break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2400" y="6668086"/>
            <a:ext cx="1229937" cy="2972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7FC4E8"/>
                </a:solidFill>
                <a:latin typeface="Eurostile"/>
              </a:rPr>
              <a:t>11:15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61200" y="7324820"/>
            <a:ext cx="1794765" cy="223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1" b="1" spc="229">
                <a:solidFill>
                  <a:srgbClr val="7FC4E8"/>
                </a:solidFill>
                <a:latin typeface="Eurostile"/>
              </a:rPr>
              <a:t>WORKSHOP 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70898" y="7324820"/>
            <a:ext cx="3105428" cy="223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1" b="0">
                <a:solidFill>
                  <a:srgbClr val="A9C3DE"/>
                </a:solidFill>
                <a:latin typeface="Eurostile"/>
              </a:rPr>
              <a:t>Sebastian Kahlert · Pernilla Sörme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2200" y="7333009"/>
            <a:ext cx="1229937" cy="2972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7FC4E8"/>
                </a:solidFill>
                <a:latin typeface="Eurostile"/>
              </a:rPr>
              <a:t>11:45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61200" y="7525196"/>
            <a:ext cx="3332914" cy="2797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94" b="1">
                <a:solidFill>
                  <a:srgbClr val="FFFFFF"/>
                </a:solidFill>
                <a:latin typeface="Eurostile"/>
              </a:rPr>
              <a:t>Sustainable Practice in the Lab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61200" y="8119682"/>
            <a:ext cx="1685632" cy="2797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94" b="0" dirty="0">
                <a:solidFill>
                  <a:srgbClr val="9DB6D2"/>
                </a:solidFill>
                <a:latin typeface="Eurostile"/>
              </a:rPr>
              <a:t>Lunch Break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2200" y="8106934"/>
            <a:ext cx="1229937" cy="2972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7FC4E8"/>
                </a:solidFill>
                <a:latin typeface="Eurostile"/>
              </a:rPr>
              <a:t>13:00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61200" y="8763668"/>
            <a:ext cx="1794765" cy="223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1" b="1" spc="229">
                <a:solidFill>
                  <a:srgbClr val="7FC4E8"/>
                </a:solidFill>
                <a:latin typeface="Eurostile"/>
              </a:rPr>
              <a:t>WORKSHOP 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70821" y="8763668"/>
            <a:ext cx="1492548" cy="223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1" b="0">
                <a:solidFill>
                  <a:srgbClr val="A9C3DE"/>
                </a:solidFill>
                <a:latin typeface="Eurostile"/>
              </a:rPr>
              <a:t>Joseph Heng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2400" y="8732370"/>
            <a:ext cx="1229937" cy="2972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7FC4E8"/>
                </a:solidFill>
                <a:latin typeface="Eurostile"/>
              </a:rPr>
              <a:t>14:00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61200" y="8964046"/>
            <a:ext cx="8121946" cy="2797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94" b="1">
                <a:solidFill>
                  <a:srgbClr val="FFFFFF"/>
                </a:solidFill>
                <a:latin typeface="Eurostile"/>
              </a:rPr>
              <a:t>Accessing &amp; Using Open AI Tools, Pre-trained Models and Datasets for Life Sciences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61200" y="9558530"/>
            <a:ext cx="1746287" cy="2797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94" b="0">
                <a:solidFill>
                  <a:srgbClr val="9DB6D2"/>
                </a:solidFill>
                <a:latin typeface="Eurostile"/>
              </a:rPr>
              <a:t>Coffee Break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2400" y="9547790"/>
            <a:ext cx="1229937" cy="2972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7FC4E8"/>
                </a:solidFill>
                <a:latin typeface="Eurostile"/>
              </a:rPr>
              <a:t>15:15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61200" y="10202516"/>
            <a:ext cx="1565866" cy="223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1" b="1" spc="229">
                <a:solidFill>
                  <a:srgbClr val="7FC4E8"/>
                </a:solidFill>
                <a:latin typeface="Eurostile"/>
              </a:rPr>
              <a:t>KEYNOTE 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39053" y="10202516"/>
            <a:ext cx="1961378" cy="223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1" b="0">
                <a:solidFill>
                  <a:srgbClr val="A9C3DE"/>
                </a:solidFill>
                <a:latin typeface="Eurostile"/>
              </a:rPr>
              <a:t>Nicoletta Iacobacci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2200" y="10170073"/>
            <a:ext cx="1229937" cy="2972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7FC4E8"/>
                </a:solidFill>
                <a:latin typeface="Eurostile"/>
              </a:rPr>
              <a:t>15:45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61200" y="10402892"/>
            <a:ext cx="5231426" cy="2797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94" b="1">
                <a:solidFill>
                  <a:srgbClr val="FFFFFF"/>
                </a:solidFill>
                <a:latin typeface="Eurostile"/>
              </a:rPr>
              <a:t>The Missing Behavioral Layer in AI-Assisted Science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61200" y="11026089"/>
            <a:ext cx="1507964" cy="2231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1" b="1" spc="229">
                <a:solidFill>
                  <a:srgbClr val="7FC4E8"/>
                </a:solidFill>
                <a:latin typeface="Eurostile"/>
              </a:rPr>
              <a:t>PITCHFEST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2400" y="11013043"/>
            <a:ext cx="1229937" cy="2972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7FC4E8"/>
                </a:solidFill>
                <a:latin typeface="Eurostile"/>
              </a:rPr>
              <a:t>16:30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61200" y="11226465"/>
            <a:ext cx="4003457" cy="26072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694" b="1" dirty="0">
                <a:solidFill>
                  <a:srgbClr val="FFFFFF"/>
                </a:solidFill>
                <a:latin typeface="Eurostile"/>
              </a:rPr>
              <a:t>Emerging Voices: </a:t>
            </a:r>
            <a:r>
              <a:rPr lang="en-US" sz="1694" b="1" dirty="0">
                <a:solidFill>
                  <a:srgbClr val="FFFFFF"/>
                </a:solidFill>
                <a:latin typeface="Eurostile"/>
              </a:rPr>
              <a:t>Early-career researchers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61200" y="11820951"/>
            <a:ext cx="4520584" cy="2797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94" b="1">
                <a:solidFill>
                  <a:srgbClr val="FFFFFF"/>
                </a:solidFill>
                <a:latin typeface="Eurostile"/>
              </a:rPr>
              <a:t>Closing Ceremony — Pitch Winner Awards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2400" y="11826659"/>
            <a:ext cx="1229937" cy="2972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7FC4E8"/>
                </a:solidFill>
                <a:latin typeface="Eurostile"/>
              </a:rPr>
              <a:t>17:30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61200" y="12436226"/>
            <a:ext cx="2255009" cy="2797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94" b="0" dirty="0">
                <a:solidFill>
                  <a:srgbClr val="9DB6D2"/>
                </a:solidFill>
                <a:latin typeface="Eurostile"/>
              </a:rPr>
              <a:t>Networking </a:t>
            </a:r>
            <a:r>
              <a:rPr sz="1694" b="0" dirty="0" err="1">
                <a:solidFill>
                  <a:srgbClr val="9DB6D2"/>
                </a:solidFill>
                <a:latin typeface="Eurostile"/>
              </a:rPr>
              <a:t>Apéro</a:t>
            </a:r>
            <a:endParaRPr sz="1629" b="0" dirty="0">
              <a:solidFill>
                <a:srgbClr val="9DB6D2"/>
              </a:solidFill>
              <a:latin typeface="Eurostile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72200" y="12443514"/>
            <a:ext cx="1229937" cy="29729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7FC4E8"/>
                </a:solidFill>
                <a:latin typeface="Eurostile"/>
              </a:rPr>
              <a:t>17:45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7400" y="14800506"/>
            <a:ext cx="1712274" cy="2689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29" b="1">
                <a:solidFill>
                  <a:srgbClr val="FFFFFF"/>
                </a:solidFill>
                <a:latin typeface="Eurostile"/>
              </a:rPr>
              <a:t>Follow us on: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90355" y="14800506"/>
            <a:ext cx="2165031" cy="2689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29" b="0">
                <a:solidFill>
                  <a:srgbClr val="FFFFFF"/>
                </a:solidFill>
                <a:latin typeface="Eurostile"/>
              </a:rPr>
              <a:t>@OpenLifescience</a:t>
            </a:r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DCFCD534-4269-1263-50BC-61A41E8EC2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2800" y="1801800"/>
            <a:ext cx="1306800" cy="1306800"/>
          </a:xfrm>
          <a:prstGeom prst="rect">
            <a:avLst/>
          </a:prstGeom>
        </p:spPr>
      </p:pic>
      <p:pic>
        <p:nvPicPr>
          <p:cNvPr id="74" name="Graphic 73">
            <a:extLst>
              <a:ext uri="{FF2B5EF4-FFF2-40B4-BE49-F238E27FC236}">
                <a16:creationId xmlns:a16="http://schemas.microsoft.com/office/drawing/2014/main" id="{8B7A5AC0-0F2C-60A2-56AF-A053F2BC34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2000" y="550076"/>
            <a:ext cx="2455200" cy="1099275"/>
          </a:xfrm>
          <a:prstGeom prst="rect">
            <a:avLst/>
          </a:prstGeom>
        </p:spPr>
      </p:pic>
      <p:sp>
        <p:nvSpPr>
          <p:cNvPr id="4" name="Sponsor band">
            <a:extLst>
              <a:ext uri="{FF2B5EF4-FFF2-40B4-BE49-F238E27FC236}">
                <a16:creationId xmlns:a16="http://schemas.microsoft.com/office/drawing/2014/main" id="{CEB6F47C-DE87-0017-2615-49FAE10D35CC}"/>
              </a:ext>
            </a:extLst>
          </p:cNvPr>
          <p:cNvSpPr/>
          <p:nvPr/>
        </p:nvSpPr>
        <p:spPr>
          <a:xfrm>
            <a:off x="0" y="13119565"/>
            <a:ext cx="10692000" cy="1603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D6D5AC-6E47-4569-0475-A8E3C2CFBFAA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6130" b="17768"/>
          <a:stretch>
            <a:fillRect/>
          </a:stretch>
        </p:blipFill>
        <p:spPr>
          <a:xfrm>
            <a:off x="2914325" y="13857612"/>
            <a:ext cx="2117091" cy="7874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718B8A9-CE25-751C-79DB-48B967B084B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055" y="13558134"/>
            <a:ext cx="2620712" cy="5031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4F080B-4BA5-0F28-AD33-C18B73645E3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4155" y="14061351"/>
            <a:ext cx="2215017" cy="5279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69D8A37-E8B7-20DD-2F17-12D0DEBCC03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7259" y="14255004"/>
            <a:ext cx="2431105" cy="340913"/>
          </a:xfrm>
          <a:prstGeom prst="rect">
            <a:avLst/>
          </a:prstGeom>
        </p:spPr>
      </p:pic>
      <p:sp>
        <p:nvSpPr>
          <p:cNvPr id="72" name="QR caption">
            <a:extLst>
              <a:ext uri="{FF2B5EF4-FFF2-40B4-BE49-F238E27FC236}">
                <a16:creationId xmlns:a16="http://schemas.microsoft.com/office/drawing/2014/main" id="{06565F9B-B7D0-20F9-2BE6-FC31E3C21254}"/>
              </a:ext>
            </a:extLst>
          </p:cNvPr>
          <p:cNvSpPr txBox="1"/>
          <p:nvPr/>
        </p:nvSpPr>
        <p:spPr>
          <a:xfrm>
            <a:off x="177370" y="13220552"/>
            <a:ext cx="2577478" cy="25591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en-US" sz="1663" b="1" spc="223" dirty="0">
                <a:latin typeface="Eurostile"/>
              </a:rPr>
              <a:t>Sponsors &amp; Partners:</a:t>
            </a:r>
            <a:endParaRPr sz="1663" b="1" spc="223" dirty="0">
              <a:latin typeface="Eurostile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FFCA2D8E-DA07-BFED-F406-3D1FB48994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13304" y="13227334"/>
            <a:ext cx="2158804" cy="75333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1678F7E0-2801-459C-FE9B-57F4AFC0BA9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87268" y="13400108"/>
            <a:ext cx="1708125" cy="471906"/>
          </a:xfrm>
          <a:prstGeom prst="rect">
            <a:avLst/>
          </a:prstGeom>
        </p:spPr>
      </p:pic>
      <p:grpSp>
        <p:nvGrpSpPr>
          <p:cNvPr id="77" name="Group 76">
            <a:extLst>
              <a:ext uri="{FF2B5EF4-FFF2-40B4-BE49-F238E27FC236}">
                <a16:creationId xmlns:a16="http://schemas.microsoft.com/office/drawing/2014/main" id="{18470DF4-B68B-4824-C398-D19FE9025943}"/>
              </a:ext>
            </a:extLst>
          </p:cNvPr>
          <p:cNvGrpSpPr/>
          <p:nvPr/>
        </p:nvGrpSpPr>
        <p:grpSpPr>
          <a:xfrm>
            <a:off x="8275200" y="14112878"/>
            <a:ext cx="1810773" cy="522404"/>
            <a:chOff x="299560" y="9410774"/>
            <a:chExt cx="1915412" cy="552592"/>
          </a:xfrm>
        </p:grpSpPr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3559565C-80C4-DE89-8032-4EA72013B85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20685" t="11110" r="7847" b="50497"/>
            <a:stretch>
              <a:fillRect/>
            </a:stretch>
          </p:blipFill>
          <p:spPr>
            <a:xfrm>
              <a:off x="299560" y="9410774"/>
              <a:ext cx="1028626" cy="552592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0482B3FA-94C5-ED98-393C-484DDC03A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8183" t="50812" r="7847" b="15553"/>
            <a:stretch>
              <a:fillRect/>
            </a:stretch>
          </p:blipFill>
          <p:spPr>
            <a:xfrm>
              <a:off x="1087974" y="9461350"/>
              <a:ext cx="1126998" cy="451440"/>
            </a:xfrm>
            <a:prstGeom prst="rect">
              <a:avLst/>
            </a:prstGeom>
          </p:spPr>
        </p:pic>
      </p:grpSp>
      <p:pic>
        <p:nvPicPr>
          <p:cNvPr id="80" name="Picture 79">
            <a:extLst>
              <a:ext uri="{FF2B5EF4-FFF2-40B4-BE49-F238E27FC236}">
                <a16:creationId xmlns:a16="http://schemas.microsoft.com/office/drawing/2014/main" id="{EE8823B7-89E1-388F-192F-FD3B33BC112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00885" y="13262112"/>
            <a:ext cx="1285890" cy="6683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158</Words>
  <Application>Microsoft Macintosh PowerPoint</Application>
  <PresentationFormat>Custom</PresentationFormat>
  <Paragraphs>45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Eurostile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OILS</cp:lastModifiedBy>
  <cp:revision>10</cp:revision>
  <dcterms:created xsi:type="dcterms:W3CDTF">2013-01-27T09:14:16Z</dcterms:created>
  <dcterms:modified xsi:type="dcterms:W3CDTF">2026-10-02T14:48:47Z</dcterms:modified>
  <cp:category/>
</cp:coreProperties>
</file>