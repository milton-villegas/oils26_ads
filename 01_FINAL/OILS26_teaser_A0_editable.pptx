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6000" cy="4280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41"/>
    <p:restoredTop sz="94521"/>
  </p:normalViewPr>
  <p:slideViewPr>
    <p:cSldViewPr snapToGrid="0" snapToObjects="1">
      <p:cViewPr varScale="1">
        <p:scale>
          <a:sx n="54" d="100"/>
          <a:sy n="54" d="100"/>
        </p:scale>
        <p:origin x="3280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30276530" cy="42805840"/>
          </a:xfrm>
          <a:prstGeom prst="rect">
            <a:avLst/>
          </a:prstGeom>
          <a:solidFill>
            <a:srgbClr val="091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8931" rIns="258931" tIns="129437" bIns="129437"/>
          <a:lstStyle/>
          <a:p>
            <a:pPr>
              <a:defRPr/>
            </a:pPr>
            <a:endParaRPr/>
          </a:p>
        </p:txBody>
      </p:sp>
      <p:pic>
        <p:nvPicPr>
          <p:cNvPr id="3" name="Bloom artwork" descr="bloom_overlay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6530" cy="42805840"/>
          </a:xfrm>
          <a:prstGeom prst="rect">
            <a:avLst/>
          </a:prstGeom>
        </p:spPr>
      </p:pic>
      <p:sp>
        <p:nvSpPr>
          <p:cNvPr id="4" name="Sponsor band"/>
          <p:cNvSpPr/>
          <p:nvPr/>
        </p:nvSpPr>
        <p:spPr>
          <a:xfrm>
            <a:off x="0" y="37144258"/>
            <a:ext cx="30276530" cy="45404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8931" rIns="258931" tIns="129437" bIns="129437"/>
          <a:lstStyle/>
          <a:p>
            <a:pPr>
              <a:defRPr/>
            </a:pPr>
            <a:endParaRPr dirty="0"/>
          </a:p>
        </p:txBody>
      </p:sp>
      <p:sp>
        <p:nvSpPr>
          <p:cNvPr id="5" name="Social bar"/>
          <p:cNvSpPr/>
          <p:nvPr/>
        </p:nvSpPr>
        <p:spPr>
          <a:xfrm>
            <a:off x="0" y="41684735"/>
            <a:ext cx="30276530" cy="1121105"/>
          </a:xfrm>
          <a:prstGeom prst="rect">
            <a:avLst/>
          </a:prstGeom>
          <a:solidFill>
            <a:srgbClr val="0B3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8931" rIns="258931" tIns="129437" bIns="129437"/>
          <a:lstStyle/>
          <a:p>
            <a:pPr>
              <a:defRPr/>
            </a:pPr>
            <a:endParaRPr/>
          </a:p>
        </p:txBody>
      </p:sp>
      <p:sp>
        <p:nvSpPr>
          <p:cNvPr id="8" name="QR frame"/>
          <p:cNvSpPr/>
          <p:nvPr/>
        </p:nvSpPr>
        <p:spPr>
          <a:xfrm>
            <a:off x="22595262" y="21963473"/>
            <a:ext cx="5550697" cy="55494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8931" rIns="258931" tIns="129437" bIns="129437"/>
          <a:lstStyle/>
          <a:p>
            <a:pPr>
              <a:defRPr/>
            </a:pPr>
            <a:endParaRPr/>
          </a:p>
        </p:txBody>
      </p:sp>
      <p:cxnSp>
        <p:nvCxnSpPr>
          <p:cNvPr id="10" name="Divider"/>
          <p:cNvCxnSpPr/>
          <p:nvPr/>
        </p:nvCxnSpPr>
        <p:spPr>
          <a:xfrm>
            <a:off x="2130571" y="21348999"/>
            <a:ext cx="26015388" cy="0"/>
          </a:xfrm>
          <a:prstGeom prst="line">
            <a:avLst/>
          </a:prstGeom>
          <a:ln w="28031">
            <a:solidFill>
              <a:srgbClr val="4D5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gister button"/>
          <p:cNvSpPr/>
          <p:nvPr/>
        </p:nvSpPr>
        <p:spPr>
          <a:xfrm>
            <a:off x="3968284" y="26518629"/>
            <a:ext cx="9419365" cy="2074045"/>
          </a:xfrm>
          <a:prstGeom prst="roundRect">
            <a:avLst>
              <a:gd name="adj" fmla="val 50000"/>
            </a:avLst>
          </a:prstGeom>
          <a:solidFill>
            <a:srgbClr val="7FC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6554" b="1" dirty="0">
                <a:solidFill>
                  <a:srgbClr val="08214F"/>
                </a:solidFill>
                <a:latin typeface="Eurostile"/>
              </a:rPr>
              <a:t>Register Today!</a:t>
            </a:r>
          </a:p>
        </p:txBody>
      </p:sp>
      <p:sp>
        <p:nvSpPr>
          <p:cNvPr id="12" name="QR caption"/>
          <p:cNvSpPr txBox="1"/>
          <p:nvPr/>
        </p:nvSpPr>
        <p:spPr>
          <a:xfrm>
            <a:off x="22105330" y="27935457"/>
            <a:ext cx="6530559" cy="7245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4708" b="1" spc="223" dirty="0">
                <a:solidFill>
                  <a:schemeClr val="bg1"/>
                </a:solidFill>
                <a:latin typeface="Eurostile"/>
              </a:rPr>
              <a:t>SCAN TO REGISTER</a:t>
            </a:r>
          </a:p>
        </p:txBody>
      </p:sp>
      <p:sp>
        <p:nvSpPr>
          <p:cNvPr id="30" name="QR fallback link"/>
          <p:cNvSpPr txBox="1"/>
          <p:nvPr/>
        </p:nvSpPr>
        <p:spPr>
          <a:xfrm>
            <a:off x="23017092" y="41870691"/>
            <a:ext cx="6530559" cy="7245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4708" b="1" dirty="0">
                <a:solidFill>
                  <a:schemeClr val="bg1"/>
                </a:solidFill>
                <a:latin typeface="Eurostile"/>
              </a:rPr>
              <a:t>b2match.com/e/oils2026</a:t>
            </a:r>
          </a:p>
        </p:txBody>
      </p:sp>
      <p:pic>
        <p:nvPicPr>
          <p:cNvPr id="13" name="Linkedin" descr="icon_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185" y="41951000"/>
            <a:ext cx="588710" cy="588580"/>
          </a:xfrm>
          <a:prstGeom prst="rect">
            <a:avLst/>
          </a:prstGeom>
        </p:spPr>
      </p:pic>
      <p:pic>
        <p:nvPicPr>
          <p:cNvPr id="14" name="Facebook" descr="icon_face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1234" y="41951000"/>
            <a:ext cx="588710" cy="588580"/>
          </a:xfrm>
          <a:prstGeom prst="rect">
            <a:avLst/>
          </a:prstGeom>
        </p:spPr>
      </p:pic>
      <p:pic>
        <p:nvPicPr>
          <p:cNvPr id="15" name="X" descr="icon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283" y="41951000"/>
            <a:ext cx="588710" cy="588580"/>
          </a:xfrm>
          <a:prstGeom prst="rect">
            <a:avLst/>
          </a:prstGeom>
        </p:spPr>
      </p:pic>
      <p:pic>
        <p:nvPicPr>
          <p:cNvPr id="16" name="Bluesky" descr="icon_bluesk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9331" y="41951000"/>
            <a:ext cx="588710" cy="5885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42706" y="7099807"/>
            <a:ext cx="10553693" cy="13941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60" b="1" dirty="0">
                <a:solidFill>
                  <a:srgbClr val="7FC4E8"/>
                </a:solidFill>
                <a:latin typeface="Eurostile"/>
              </a:rPr>
              <a:t>#OILS26 Conference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71" y="9136071"/>
            <a:ext cx="17796038" cy="68685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78788"/>
              </a:lnSpc>
              <a:defRPr/>
            </a:pPr>
            <a:r>
              <a:rPr sz="28251" b="1" dirty="0">
                <a:solidFill>
                  <a:srgbClr val="FFFFFF"/>
                </a:solidFill>
                <a:latin typeface="Eurostile"/>
              </a:rPr>
              <a:t>From Bit to</a:t>
            </a:r>
          </a:p>
          <a:p>
            <a:pPr algn="l">
              <a:lnSpc>
                <a:spcPct val="78788"/>
              </a:lnSpc>
              <a:defRPr/>
            </a:pPr>
            <a:r>
              <a:rPr sz="28251" b="1" dirty="0">
                <a:solidFill>
                  <a:srgbClr val="FFFFFF"/>
                </a:solidFill>
                <a:latin typeface="Eurostile"/>
              </a:rPr>
              <a:t>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2703" y="16227479"/>
            <a:ext cx="25778072" cy="34494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1515"/>
              </a:lnSpc>
              <a:defRPr/>
            </a:pPr>
            <a:r>
              <a:rPr sz="11325" b="0" dirty="0">
                <a:solidFill>
                  <a:srgbClr val="C3D7EE"/>
                </a:solidFill>
                <a:latin typeface="Eurostile"/>
              </a:rPr>
              <a:t>Shaping </a:t>
            </a:r>
            <a:r>
              <a:rPr sz="11325" b="0" dirty="0" err="1">
                <a:solidFill>
                  <a:srgbClr val="C3D7EE"/>
                </a:solidFill>
                <a:latin typeface="Eurostile"/>
              </a:rPr>
              <a:t>sust</a:t>
            </a:r>
            <a:r>
              <a:rPr lang="en-US" sz="11325" b="1" dirty="0" err="1">
                <a:solidFill>
                  <a:srgbClr val="C3D7EE"/>
                </a:solidFill>
                <a:latin typeface="Eurostile"/>
              </a:rPr>
              <a:t>AI</a:t>
            </a:r>
            <a:r>
              <a:rPr sz="11325" b="0" dirty="0" err="1">
                <a:solidFill>
                  <a:srgbClr val="C3D7EE"/>
                </a:solidFill>
                <a:latin typeface="Eurostile"/>
              </a:rPr>
              <a:t>nable</a:t>
            </a:r>
            <a:r>
              <a:rPr sz="11325" b="0" dirty="0">
                <a:solidFill>
                  <a:srgbClr val="C3D7EE"/>
                </a:solidFill>
                <a:latin typeface="Eurostile"/>
              </a:rPr>
              <a:t> &amp; ethical</a:t>
            </a:r>
          </a:p>
          <a:p>
            <a:pPr algn="l">
              <a:lnSpc>
                <a:spcPct val="101515"/>
              </a:lnSpc>
              <a:defRPr/>
            </a:pPr>
            <a:r>
              <a:rPr sz="11325" b="0" dirty="0">
                <a:solidFill>
                  <a:srgbClr val="C3D7EE"/>
                </a:solidFill>
                <a:latin typeface="Eurostile"/>
              </a:rPr>
              <a:t>innovation in life sciences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2706" y="22345557"/>
            <a:ext cx="15117633" cy="1763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682" b="1" dirty="0">
                <a:solidFill>
                  <a:srgbClr val="7FC4E8"/>
                </a:solidFill>
                <a:latin typeface="Eurostile"/>
              </a:rPr>
              <a:t>20 OCTOBER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2706" y="24055662"/>
            <a:ext cx="16142688" cy="108214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6554" b="0" dirty="0">
                <a:solidFill>
                  <a:srgbClr val="E4EEFA"/>
                </a:solidFill>
                <a:latin typeface="Eurostile"/>
              </a:rPr>
              <a:t>UNIVERSITY OF ZURICH, SWITZERLAND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879" y="41901329"/>
            <a:ext cx="4848645" cy="76151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4612" b="1">
                <a:solidFill>
                  <a:srgbClr val="FFFFFF"/>
                </a:solidFill>
                <a:latin typeface="Eurostile"/>
              </a:rPr>
              <a:t>Follow us 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4616" y="41901329"/>
            <a:ext cx="6130717" cy="76151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4612" b="0" dirty="0">
                <a:solidFill>
                  <a:srgbClr val="FFFFFF"/>
                </a:solidFill>
                <a:latin typeface="Eurostile"/>
              </a:rPr>
              <a:t>@</a:t>
            </a:r>
            <a:r>
              <a:rPr sz="4612" b="0" dirty="0" err="1">
                <a:solidFill>
                  <a:srgbClr val="FFFFFF"/>
                </a:solidFill>
                <a:latin typeface="Eurostile"/>
              </a:rPr>
              <a:t>OpenLifescience</a:t>
            </a:r>
            <a:endParaRPr sz="1629" b="0" dirty="0">
              <a:solidFill>
                <a:srgbClr val="FFFFFF"/>
              </a:solidFill>
              <a:latin typeface="Eurostile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4A612A3-9D9A-B806-41C6-00B86E2109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95262" y="21963473"/>
            <a:ext cx="5550697" cy="5549471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3010A0AA-29A0-89B5-0D8E-247509A4D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95010" y="1929134"/>
            <a:ext cx="7892796" cy="3533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F40EC9-2AEF-A346-8B84-49A81D8D664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130" b="17768"/>
          <a:stretch>
            <a:fillRect/>
          </a:stretch>
        </p:blipFill>
        <p:spPr>
          <a:xfrm>
            <a:off x="8252492" y="39233724"/>
            <a:ext cx="5994965" cy="222924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63559B4-6F1F-ADEA-86EF-F5E6C7C6AD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6059" y="38385880"/>
            <a:ext cx="7421068" cy="14245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E5DE71B-7F10-6423-CEE2-BB95362EBB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44527" y="39810524"/>
            <a:ext cx="6272262" cy="14946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1D3585E-0B55-6646-7D4B-1173465E35C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944" y="40358770"/>
            <a:ext cx="6884158" cy="965150"/>
          </a:xfrm>
          <a:prstGeom prst="rect">
            <a:avLst/>
          </a:prstGeom>
        </p:spPr>
      </p:pic>
      <p:sp>
        <p:nvSpPr>
          <p:cNvPr id="48" name="QR caption">
            <a:extLst>
              <a:ext uri="{FF2B5EF4-FFF2-40B4-BE49-F238E27FC236}">
                <a16:creationId xmlns:a16="http://schemas.microsoft.com/office/drawing/2014/main" id="{4DA45078-569E-F991-4C4C-4A90273EC8AC}"/>
              </a:ext>
            </a:extLst>
          </p:cNvPr>
          <p:cNvSpPr txBox="1"/>
          <p:nvPr/>
        </p:nvSpPr>
        <p:spPr>
          <a:xfrm>
            <a:off x="502259" y="37430160"/>
            <a:ext cx="7298643" cy="7245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defRPr/>
            </a:pPr>
            <a:r>
              <a:rPr lang="en-US" sz="4708" b="1" spc="223" dirty="0">
                <a:latin typeface="Eurostile"/>
              </a:rPr>
              <a:t>Sponsors &amp; Partners:</a:t>
            </a:r>
            <a:endParaRPr sz="1663" b="1" spc="223" dirty="0">
              <a:latin typeface="Eurostile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5173DF-2B06-5C66-1DD8-521179CD5B5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328849" y="37449360"/>
            <a:ext cx="6113084" cy="2132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8D8494-46A6-6649-595D-4A9CDAC4DF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183882" y="37938496"/>
            <a:ext cx="4836896" cy="1336001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02BBC28E-BD9D-803F-2618-8C458A74952A}"/>
              </a:ext>
            </a:extLst>
          </p:cNvPr>
          <p:cNvGrpSpPr/>
          <p:nvPr/>
        </p:nvGrpSpPr>
        <p:grpSpPr>
          <a:xfrm>
            <a:off x="23432879" y="39956404"/>
            <a:ext cx="5127565" cy="1478964"/>
            <a:chOff x="299560" y="9410774"/>
            <a:chExt cx="1915412" cy="552592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CBDB0F38-4830-BDAE-17CA-CBD9D89B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20685" t="11110" r="7847" b="50497"/>
            <a:stretch>
              <a:fillRect/>
            </a:stretch>
          </p:blipFill>
          <p:spPr>
            <a:xfrm>
              <a:off x="299560" y="9410774"/>
              <a:ext cx="1028626" cy="552592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B713F00-4D54-40F8-CF3D-2F171CFF5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8183" t="50812" r="7847" b="15553"/>
            <a:stretch>
              <a:fillRect/>
            </a:stretch>
          </p:blipFill>
          <p:spPr>
            <a:xfrm>
              <a:off x="1087974" y="9461350"/>
              <a:ext cx="1126998" cy="451440"/>
            </a:xfrm>
            <a:prstGeom prst="rect">
              <a:avLst/>
            </a:prstGeom>
          </p:spPr>
        </p:pic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6FA3AB71-FF2E-603C-3374-588AAC91C48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13454" y="37547822"/>
            <a:ext cx="3641254" cy="1892276"/>
          </a:xfrm>
          <a:prstGeom prst="rect">
            <a:avLst/>
          </a:prstGeom>
        </p:spPr>
      </p:pic>
      <p:sp>
        <p:nvSpPr>
          <p:cNvPr id="49" name="Roche visit card"/>
          <p:cNvSpPr/>
          <p:nvPr/>
        </p:nvSpPr>
        <p:spPr>
          <a:xfrm>
            <a:off x="2130571" y="29984914"/>
            <a:ext cx="26015388" cy="58343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8931" rIns="258931" tIns="129437" bIns="129437"/>
          <a:lstStyle/>
          <a:p>
            <a:pPr algn="ctr">
              <a:defRPr/>
            </a:pPr>
            <a:endParaRPr/>
          </a:p>
        </p:txBody>
      </p:sp>
      <p:pic>
        <p:nvPicPr>
          <p:cNvPr id="50" name="Roche visit logo" descr="logo_roch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51924" y="31524726"/>
            <a:ext cx="5300941" cy="2754777"/>
          </a:xfrm>
          <a:prstGeom prst="rect">
            <a:avLst/>
          </a:prstGeom>
        </p:spPr>
      </p:pic>
      <p:cxnSp>
        <p:nvCxnSpPr>
          <p:cNvPr id="51" name="Roche separator"/>
          <p:cNvCxnSpPr/>
          <p:nvPr/>
        </p:nvCxnSpPr>
        <p:spPr>
          <a:xfrm>
            <a:off x="9470335" y="30800263"/>
            <a:ext cx="0" cy="4203703"/>
          </a:xfrm>
          <a:prstGeom prst="line">
            <a:avLst/>
          </a:prstGeom>
          <a:ln w="26969">
            <a:solidFill>
              <a:srgbClr val="C9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che kicker"/>
          <p:cNvSpPr txBox="1"/>
          <p:nvPr/>
        </p:nvSpPr>
        <p:spPr>
          <a:xfrm>
            <a:off x="10387806" y="30889221"/>
            <a:ext cx="16840682" cy="7134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3680" b="1" spc="160">
                <a:solidFill>
                  <a:srgbClr val="0B41CD"/>
                </a:solidFill>
                <a:latin typeface="Eurostile"/>
                <a:ea typeface="Eurostile"/>
                <a:cs typeface="Eurostile"/>
              </a:rPr>
              <a:t>ROCHE SITE VISIT  |  WEDNESDAY 21 OCTOBER</a:t>
            </a:r>
          </a:p>
        </p:txBody>
      </p:sp>
      <p:sp>
        <p:nvSpPr>
          <p:cNvPr id="53" name="Roche headline"/>
          <p:cNvSpPr txBox="1"/>
          <p:nvPr/>
        </p:nvSpPr>
        <p:spPr>
          <a:xfrm>
            <a:off x="10387806" y="31653611"/>
            <a:ext cx="16840682" cy="13249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8494" b="1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Visit Roche in Basel</a:t>
            </a:r>
          </a:p>
        </p:txBody>
      </p:sp>
      <p:sp>
        <p:nvSpPr>
          <p:cNvPr id="54" name="Roche detail"/>
          <p:cNvSpPr txBox="1"/>
          <p:nvPr/>
        </p:nvSpPr>
        <p:spPr>
          <a:xfrm>
            <a:off x="10387806" y="33080472"/>
            <a:ext cx="16840682" cy="18345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662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4530" b="0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Limited places for registered OILS26 attendees.</a:t>
            </a:r>
          </a:p>
          <a:p>
            <a:pPr algn="l">
              <a:lnSpc>
                <a:spcPts val="5662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4530" b="1">
                <a:solidFill>
                  <a:srgbClr val="0B2554"/>
                </a:solidFill>
                <a:latin typeface="Eurostile"/>
                <a:ea typeface="Eurostile"/>
                <a:cs typeface="Eurostile"/>
              </a:rPr>
              <a:t>Express interest by 15 October on the event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76</Words>
  <Application>Microsoft Macintosh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Eurostile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OILS</cp:lastModifiedBy>
  <cp:revision>14</cp:revision>
  <dcterms:created xsi:type="dcterms:W3CDTF">2013-01-27T09:14:16Z</dcterms:created>
  <dcterms:modified xsi:type="dcterms:W3CDTF">2026-10-03T21:36:10Z</dcterms:modified>
  <cp:category/>
</cp:coreProperties>
</file>