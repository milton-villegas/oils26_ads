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7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0692000" cy="15120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41"/>
    <p:restoredTop sz="94521"/>
  </p:normalViewPr>
  <p:slideViewPr>
    <p:cSldViewPr snapToGrid="0" snapToObjects="1">
      <p:cViewPr>
        <p:scale>
          <a:sx n="30" d="100"/>
          <a:sy n="30" d="100"/>
        </p:scale>
        <p:origin x="2280" y="-25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sv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091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4" tIns="45712" rIns="91444" bIns="45712" rtlCol="0" anchor="ctr"/>
          <a:lstStyle/>
          <a:p>
            <a:pPr>
              <a:defRPr/>
            </a:pPr>
            <a:endParaRPr/>
          </a:p>
        </p:txBody>
      </p:sp>
      <p:pic>
        <p:nvPicPr>
          <p:cNvPr id="3" name="Bloom artwork" descr="bloom_overlay_sh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2000" cy="15120000"/>
          </a:xfrm>
          <a:prstGeom prst="rect">
            <a:avLst/>
          </a:prstGeom>
        </p:spPr>
      </p:pic>
      <p:sp>
        <p:nvSpPr>
          <p:cNvPr id="4" name="Sponsor band"/>
          <p:cNvSpPr/>
          <p:nvPr/>
        </p:nvSpPr>
        <p:spPr>
          <a:xfrm>
            <a:off x="0" y="13117873"/>
            <a:ext cx="10692465" cy="16035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4" tIns="45712" rIns="91444" bIns="45712" rtlCol="0" anchor="ctr"/>
          <a:lstStyle/>
          <a:p>
            <a:pPr>
              <a:defRPr/>
            </a:pPr>
            <a:endParaRPr dirty="0"/>
          </a:p>
        </p:txBody>
      </p:sp>
      <p:sp>
        <p:nvSpPr>
          <p:cNvPr id="5" name="Social bar"/>
          <p:cNvSpPr/>
          <p:nvPr/>
        </p:nvSpPr>
        <p:spPr>
          <a:xfrm>
            <a:off x="0" y="14721389"/>
            <a:ext cx="10692465" cy="395930"/>
          </a:xfrm>
          <a:prstGeom prst="rect">
            <a:avLst/>
          </a:prstGeom>
          <a:solidFill>
            <a:srgbClr val="0B3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4" tIns="45712" rIns="91444" bIns="45712" rtlCol="0" anchor="ctr"/>
          <a:lstStyle/>
          <a:p>
            <a:pPr>
              <a:defRPr/>
            </a:pPr>
            <a:endParaRPr/>
          </a:p>
        </p:txBody>
      </p:sp>
      <p:sp>
        <p:nvSpPr>
          <p:cNvPr id="8" name="QR frame"/>
          <p:cNvSpPr/>
          <p:nvPr/>
        </p:nvSpPr>
        <p:spPr>
          <a:xfrm>
            <a:off x="7979747" y="7756624"/>
            <a:ext cx="1960285" cy="1959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4" tIns="45712" rIns="91444" bIns="45712" rtlCol="0" anchor="ctr"/>
          <a:lstStyle/>
          <a:p>
            <a:pPr>
              <a:defRPr/>
            </a:pPr>
            <a:endParaRPr/>
          </a:p>
        </p:txBody>
      </p:sp>
      <p:cxnSp>
        <p:nvCxnSpPr>
          <p:cNvPr id="10" name="Divider"/>
          <p:cNvCxnSpPr/>
          <p:nvPr/>
        </p:nvCxnSpPr>
        <p:spPr>
          <a:xfrm>
            <a:off x="752433" y="7539617"/>
            <a:ext cx="9187599" cy="0"/>
          </a:xfrm>
          <a:prstGeom prst="line">
            <a:avLst/>
          </a:prstGeom>
          <a:ln w="9899">
            <a:solidFill>
              <a:srgbClr val="4D5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gister button"/>
          <p:cNvSpPr/>
          <p:nvPr/>
        </p:nvSpPr>
        <p:spPr>
          <a:xfrm>
            <a:off x="1401440" y="9365324"/>
            <a:ext cx="3326545" cy="732470"/>
          </a:xfrm>
          <a:prstGeom prst="roundRect">
            <a:avLst>
              <a:gd name="adj" fmla="val 50000"/>
            </a:avLst>
          </a:prstGeom>
          <a:solidFill>
            <a:srgbClr val="7FC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/>
            </a:pPr>
            <a:r>
              <a:rPr sz="2315" b="1" dirty="0">
                <a:solidFill>
                  <a:srgbClr val="08214F"/>
                </a:solidFill>
                <a:latin typeface="Eurostile"/>
              </a:rPr>
              <a:t>Register Today!</a:t>
            </a:r>
          </a:p>
        </p:txBody>
      </p:sp>
      <p:sp>
        <p:nvSpPr>
          <p:cNvPr id="12" name="QR caption"/>
          <p:cNvSpPr txBox="1"/>
          <p:nvPr/>
        </p:nvSpPr>
        <p:spPr>
          <a:xfrm>
            <a:off x="7806723" y="9865691"/>
            <a:ext cx="2306333" cy="2558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defRPr/>
            </a:pPr>
            <a:r>
              <a:rPr sz="1663" b="1" spc="79" dirty="0">
                <a:solidFill>
                  <a:schemeClr val="bg1"/>
                </a:solidFill>
                <a:latin typeface="Eurostile"/>
              </a:rPr>
              <a:t>SCAN TO REGISTER</a:t>
            </a:r>
          </a:p>
        </p:txBody>
      </p:sp>
      <p:sp>
        <p:nvSpPr>
          <p:cNvPr id="30" name="QR fallback link"/>
          <p:cNvSpPr txBox="1"/>
          <p:nvPr/>
        </p:nvSpPr>
        <p:spPr>
          <a:xfrm>
            <a:off x="8128721" y="14787061"/>
            <a:ext cx="2306333" cy="2558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defRPr/>
            </a:pPr>
            <a:r>
              <a:rPr sz="1663" b="1" dirty="0">
                <a:solidFill>
                  <a:schemeClr val="bg1"/>
                </a:solidFill>
                <a:latin typeface="Eurostile"/>
              </a:rPr>
              <a:t>b2match.com/e/oils2026</a:t>
            </a:r>
          </a:p>
        </p:txBody>
      </p:sp>
      <p:pic>
        <p:nvPicPr>
          <p:cNvPr id="13" name="Linkedin" descr="icon_linked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3524" y="14815423"/>
            <a:ext cx="207909" cy="207863"/>
          </a:xfrm>
          <a:prstGeom prst="rect">
            <a:avLst/>
          </a:prstGeom>
        </p:spPr>
      </p:pic>
      <p:pic>
        <p:nvPicPr>
          <p:cNvPr id="14" name="Facebook" descr="icon_faceboo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0438" y="14815423"/>
            <a:ext cx="207909" cy="207863"/>
          </a:xfrm>
          <a:prstGeom prst="rect">
            <a:avLst/>
          </a:prstGeom>
        </p:spPr>
      </p:pic>
      <p:pic>
        <p:nvPicPr>
          <p:cNvPr id="15" name="X" descr="icon_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7351" y="14815423"/>
            <a:ext cx="207909" cy="207863"/>
          </a:xfrm>
          <a:prstGeom prst="rect">
            <a:avLst/>
          </a:prstGeom>
        </p:spPr>
      </p:pic>
      <p:pic>
        <p:nvPicPr>
          <p:cNvPr id="16" name="Bluesky" descr="icon_bluesk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14264" y="14815423"/>
            <a:ext cx="207909" cy="20786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92034" y="2507369"/>
            <a:ext cx="3727144" cy="49235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3200" b="1" dirty="0">
                <a:solidFill>
                  <a:srgbClr val="7FC4E8"/>
                </a:solidFill>
                <a:latin typeface="Eurostile"/>
              </a:rPr>
              <a:t>#OILS26 Conference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2433" y="3226497"/>
            <a:ext cx="6284852" cy="242569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78788"/>
              </a:lnSpc>
              <a:defRPr/>
            </a:pPr>
            <a:r>
              <a:rPr sz="9977" b="1" dirty="0">
                <a:solidFill>
                  <a:srgbClr val="FFFFFF"/>
                </a:solidFill>
                <a:latin typeface="Eurostile"/>
              </a:rPr>
              <a:t>From Bit to</a:t>
            </a:r>
          </a:p>
          <a:p>
            <a:pPr algn="l">
              <a:lnSpc>
                <a:spcPct val="78788"/>
              </a:lnSpc>
              <a:defRPr/>
            </a:pPr>
            <a:r>
              <a:rPr sz="9977" b="1" dirty="0">
                <a:solidFill>
                  <a:srgbClr val="FFFFFF"/>
                </a:solidFill>
                <a:latin typeface="Eurostile"/>
              </a:rPr>
              <a:t>Bench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033" y="5730900"/>
            <a:ext cx="9103789" cy="1218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1515"/>
              </a:lnSpc>
              <a:defRPr/>
            </a:pPr>
            <a:r>
              <a:rPr sz="4000" b="0" dirty="0">
                <a:solidFill>
                  <a:srgbClr val="C3D7EE"/>
                </a:solidFill>
                <a:latin typeface="Eurostile"/>
              </a:rPr>
              <a:t>Shaping </a:t>
            </a:r>
            <a:r>
              <a:rPr sz="4000" b="0" dirty="0" err="1">
                <a:solidFill>
                  <a:srgbClr val="C3D7EE"/>
                </a:solidFill>
                <a:latin typeface="Eurostile"/>
              </a:rPr>
              <a:t>sust</a:t>
            </a:r>
            <a:r>
              <a:rPr lang="en-US" sz="4000" b="1" dirty="0" err="1">
                <a:solidFill>
                  <a:srgbClr val="C3D7EE"/>
                </a:solidFill>
                <a:latin typeface="Eurostile"/>
              </a:rPr>
              <a:t>AI</a:t>
            </a:r>
            <a:r>
              <a:rPr sz="4000" b="0" dirty="0" err="1">
                <a:solidFill>
                  <a:srgbClr val="C3D7EE"/>
                </a:solidFill>
                <a:latin typeface="Eurostile"/>
              </a:rPr>
              <a:t>nable</a:t>
            </a:r>
            <a:r>
              <a:rPr sz="4000" b="0" dirty="0">
                <a:solidFill>
                  <a:srgbClr val="C3D7EE"/>
                </a:solidFill>
                <a:latin typeface="Eurostile"/>
              </a:rPr>
              <a:t> &amp; ethical</a:t>
            </a:r>
          </a:p>
          <a:p>
            <a:pPr algn="l">
              <a:lnSpc>
                <a:spcPct val="101515"/>
              </a:lnSpc>
              <a:defRPr/>
            </a:pPr>
            <a:r>
              <a:rPr sz="4000" b="0" dirty="0">
                <a:solidFill>
                  <a:srgbClr val="C3D7EE"/>
                </a:solidFill>
                <a:latin typeface="Eurostile"/>
              </a:rPr>
              <a:t>innovation in life sciences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034" y="7891561"/>
            <a:ext cx="5338946" cy="62279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3772" b="1" dirty="0">
                <a:solidFill>
                  <a:srgbClr val="7FC4E8"/>
                </a:solidFill>
                <a:latin typeface="Eurostile"/>
              </a:rPr>
              <a:t>20 OCTOBER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034" y="8495502"/>
            <a:ext cx="5700955" cy="38217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2315" b="0" dirty="0">
                <a:solidFill>
                  <a:srgbClr val="E4EEFA"/>
                </a:solidFill>
                <a:latin typeface="Eurostile"/>
              </a:rPr>
              <a:t>UNIVERSITY OF ZURICH, SWITZERLAND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411" y="14797881"/>
            <a:ext cx="1712348" cy="26893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629" b="1">
                <a:solidFill>
                  <a:srgbClr val="FFFFFF"/>
                </a:solidFill>
                <a:latin typeface="Eurostile"/>
              </a:rPr>
              <a:t>Follow us on: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0481" y="14797881"/>
            <a:ext cx="2165125" cy="26893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629" b="0" dirty="0">
                <a:solidFill>
                  <a:srgbClr val="FFFFFF"/>
                </a:solidFill>
                <a:latin typeface="Eurostile"/>
              </a:rPr>
              <a:t>@</a:t>
            </a:r>
            <a:r>
              <a:rPr sz="1629" b="0" dirty="0" err="1">
                <a:solidFill>
                  <a:srgbClr val="FFFFFF"/>
                </a:solidFill>
                <a:latin typeface="Eurostile"/>
              </a:rPr>
              <a:t>OpenLifescience</a:t>
            </a:r>
            <a:endParaRPr sz="575" b="0" dirty="0">
              <a:solidFill>
                <a:srgbClr val="FFFFFF"/>
              </a:solidFill>
              <a:latin typeface="Eurostile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D4A612A3-9D9A-B806-41C6-00B86E2109E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79747" y="7756624"/>
            <a:ext cx="1960285" cy="1959852"/>
          </a:xfrm>
          <a:prstGeom prst="rect">
            <a:avLst/>
          </a:prstGeom>
        </p:spPr>
      </p:pic>
      <p:pic>
        <p:nvPicPr>
          <p:cNvPr id="24" name="Graphic 23">
            <a:extLst>
              <a:ext uri="{FF2B5EF4-FFF2-40B4-BE49-F238E27FC236}">
                <a16:creationId xmlns:a16="http://schemas.microsoft.com/office/drawing/2014/main" id="{3010A0AA-29A0-89B5-0D8E-247509A4D9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1138" y="681293"/>
            <a:ext cx="2787421" cy="124774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3F40EC9-2AEF-A346-8B84-49A81D8D6642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16130" b="17768"/>
          <a:stretch>
            <a:fillRect/>
          </a:stretch>
        </p:blipFill>
        <p:spPr>
          <a:xfrm>
            <a:off x="1924810" y="13827837"/>
            <a:ext cx="2117183" cy="78728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763559B4-6F1F-ADEA-86EF-F5E6C7C6AD0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6594" y="13273259"/>
            <a:ext cx="2620826" cy="503088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AE5DE71B-7F10-6423-CEE2-BB95362EBB1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29123" y="13428579"/>
            <a:ext cx="1674546" cy="399026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1D3585E-0B55-6646-7D4B-1173465E35C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49330" y="14139510"/>
            <a:ext cx="2085786" cy="292424"/>
          </a:xfrm>
          <a:prstGeom prst="rect">
            <a:avLst/>
          </a:prstGeom>
        </p:spPr>
      </p:pic>
      <p:sp>
        <p:nvSpPr>
          <p:cNvPr id="48" name="QR caption">
            <a:extLst>
              <a:ext uri="{FF2B5EF4-FFF2-40B4-BE49-F238E27FC236}">
                <a16:creationId xmlns:a16="http://schemas.microsoft.com/office/drawing/2014/main" id="{4DA45078-569E-F991-4C4C-4A90273EC8AC}"/>
              </a:ext>
            </a:extLst>
          </p:cNvPr>
          <p:cNvSpPr txBox="1"/>
          <p:nvPr/>
        </p:nvSpPr>
        <p:spPr>
          <a:xfrm>
            <a:off x="177378" y="13218842"/>
            <a:ext cx="2577590" cy="2558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defRPr/>
            </a:pPr>
            <a:r>
              <a:rPr lang="en-US" sz="1663" b="1" spc="79" dirty="0">
                <a:latin typeface="Eurostile"/>
              </a:rPr>
              <a:t>Sponsors &amp; Partners:</a:t>
            </a:r>
            <a:endParaRPr sz="587" b="1" spc="79" dirty="0">
              <a:latin typeface="Eurostile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5173DF-2B06-5C66-1DD8-521179CD5B5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63360" y="13960962"/>
            <a:ext cx="1888319" cy="6587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B8D8494-46A6-6649-595D-4A9CDAC4DFA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45315" y="13319047"/>
            <a:ext cx="1802175" cy="497780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02BBC28E-BD9D-803F-2618-8C458A74952A}"/>
              </a:ext>
            </a:extLst>
          </p:cNvPr>
          <p:cNvGrpSpPr/>
          <p:nvPr/>
        </p:nvGrpSpPr>
        <p:grpSpPr>
          <a:xfrm>
            <a:off x="8690278" y="14145244"/>
            <a:ext cx="1484206" cy="428095"/>
            <a:chOff x="299560" y="9410774"/>
            <a:chExt cx="1915412" cy="552592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CBDB0F38-4830-BDAE-17CA-CBD9D89B38F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 l="20685" t="11110" r="7847" b="50497"/>
            <a:stretch>
              <a:fillRect/>
            </a:stretch>
          </p:blipFill>
          <p:spPr>
            <a:xfrm>
              <a:off x="299560" y="9410774"/>
              <a:ext cx="1028626" cy="552592"/>
            </a:xfrm>
            <a:prstGeom prst="rect">
              <a:avLst/>
            </a:prstGeom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7B713F00-4D54-40F8-CF3D-2F171CFF5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 l="8183" t="50812" r="7847" b="15553"/>
            <a:stretch>
              <a:fillRect/>
            </a:stretch>
          </p:blipFill>
          <p:spPr>
            <a:xfrm>
              <a:off x="1087974" y="9461350"/>
              <a:ext cx="1126998" cy="451440"/>
            </a:xfrm>
            <a:prstGeom prst="rect">
              <a:avLst/>
            </a:prstGeom>
          </p:spPr>
        </p:pic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6FA3AB71-FF2E-603C-3374-588AAC91C489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079936" y="13250228"/>
            <a:ext cx="1565849" cy="813736"/>
          </a:xfrm>
          <a:prstGeom prst="rect">
            <a:avLst/>
          </a:prstGeom>
        </p:spPr>
      </p:pic>
      <p:sp>
        <p:nvSpPr>
          <p:cNvPr id="49" name="Roche visit card"/>
          <p:cNvSpPr/>
          <p:nvPr/>
        </p:nvSpPr>
        <p:spPr>
          <a:xfrm>
            <a:off x="752433" y="10589478"/>
            <a:ext cx="9187599" cy="2060477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4" tIns="45712" rIns="91444" bIns="45712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50" name="Roche visit logo" descr="logo_roch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48450" y="11133278"/>
            <a:ext cx="1872081" cy="972878"/>
          </a:xfrm>
          <a:prstGeom prst="rect">
            <a:avLst/>
          </a:prstGeom>
        </p:spPr>
      </p:pic>
      <p:cxnSp>
        <p:nvCxnSpPr>
          <p:cNvPr id="51" name="Roche separator"/>
          <p:cNvCxnSpPr/>
          <p:nvPr/>
        </p:nvCxnSpPr>
        <p:spPr>
          <a:xfrm>
            <a:off x="3344545" y="10877427"/>
            <a:ext cx="0" cy="1484581"/>
          </a:xfrm>
          <a:prstGeom prst="line">
            <a:avLst/>
          </a:prstGeom>
          <a:ln w="9524">
            <a:solidFill>
              <a:srgbClr val="C9D3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che kicker"/>
          <p:cNvSpPr txBox="1"/>
          <p:nvPr/>
        </p:nvSpPr>
        <p:spPr>
          <a:xfrm>
            <a:off x="3668560" y="10908843"/>
            <a:ext cx="5947458" cy="25195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/>
            </a:pPr>
            <a:r>
              <a:rPr sz="1300" b="1" spc="57" dirty="0">
                <a:solidFill>
                  <a:srgbClr val="0B41CD"/>
                </a:solidFill>
                <a:latin typeface="Eurostile"/>
                <a:ea typeface="Eurostile"/>
                <a:cs typeface="Eurostile"/>
              </a:rPr>
              <a:t>ROCHE SITE VISIT  |  WEDNESDAY 21 OCTOBER</a:t>
            </a:r>
          </a:p>
        </p:txBody>
      </p:sp>
      <p:sp>
        <p:nvSpPr>
          <p:cNvPr id="53" name="Roche headline"/>
          <p:cNvSpPr txBox="1"/>
          <p:nvPr/>
        </p:nvSpPr>
        <p:spPr>
          <a:xfrm>
            <a:off x="3668560" y="11178795"/>
            <a:ext cx="5947458" cy="46791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/>
            </a:pPr>
            <a:r>
              <a:rPr sz="3000" b="1">
                <a:solidFill>
                  <a:srgbClr val="0B2554"/>
                </a:solidFill>
                <a:latin typeface="Eurostile"/>
                <a:ea typeface="Eurostile"/>
                <a:cs typeface="Eurostile"/>
              </a:rPr>
              <a:t>Visit Roche in Basel</a:t>
            </a:r>
          </a:p>
        </p:txBody>
      </p:sp>
      <p:sp>
        <p:nvSpPr>
          <p:cNvPr id="54" name="Roche detail"/>
          <p:cNvSpPr txBox="1"/>
          <p:nvPr/>
        </p:nvSpPr>
        <p:spPr>
          <a:xfrm>
            <a:off x="3668560" y="11682706"/>
            <a:ext cx="5947458" cy="6478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600" b="0" dirty="0">
                <a:solidFill>
                  <a:srgbClr val="0B2554"/>
                </a:solidFill>
                <a:latin typeface="Eurostile"/>
                <a:ea typeface="Eurostile"/>
                <a:cs typeface="Eurostile"/>
              </a:rPr>
              <a:t>Limited places for registered OILS26 attendees.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600" b="1" dirty="0">
                <a:solidFill>
                  <a:srgbClr val="0B2554"/>
                </a:solidFill>
                <a:latin typeface="Eurostile"/>
                <a:ea typeface="Eurostile"/>
                <a:cs typeface="Eurostile"/>
              </a:rPr>
              <a:t>Express interest by 15 October on the event page.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FBC1783-BFB6-9D4C-8397-4D44D02FEA64}"/>
              </a:ext>
            </a:extLst>
          </p:cNvPr>
          <p:cNvGrpSpPr/>
          <p:nvPr/>
        </p:nvGrpSpPr>
        <p:grpSpPr>
          <a:xfrm>
            <a:off x="167346" y="13499123"/>
            <a:ext cx="1667171" cy="1088309"/>
            <a:chOff x="13748420" y="38189357"/>
            <a:chExt cx="4720721" cy="3081629"/>
          </a:xfrm>
        </p:grpSpPr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F8796036-FA9D-15CA-1BEB-983885F76984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13748420" y="38189357"/>
              <a:ext cx="4720721" cy="2651988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5B858EAF-2069-7D82-4081-AA7985F37DE0}"/>
                </a:ext>
              </a:extLst>
            </p:cNvPr>
            <p:cNvSpPr txBox="1"/>
            <p:nvPr/>
          </p:nvSpPr>
          <p:spPr>
            <a:xfrm>
              <a:off x="14483064" y="40778543"/>
              <a:ext cx="3321422" cy="49244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>
                <a:defRPr/>
              </a:pPr>
              <a:r>
                <a:rPr lang="en-GB" sz="1130" dirty="0" err="1">
                  <a:solidFill>
                    <a:schemeClr val="tx2"/>
                  </a:solidFill>
                  <a:latin typeface="Eurostile"/>
                </a:rPr>
                <a:t>www.biologists.com</a:t>
              </a:r>
              <a:endParaRPr sz="388" b="0" dirty="0">
                <a:solidFill>
                  <a:schemeClr val="tx2"/>
                </a:solidFill>
                <a:latin typeface="Eurostile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</TotalTime>
  <Words>81</Words>
  <Application>Microsoft Macintosh PowerPoint</Application>
  <PresentationFormat>Custom</PresentationFormat>
  <Paragraphs>18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Eurostile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OILS</dc:creator>
  <cp:keywords/>
  <dc:description/>
  <cp:lastModifiedBy>OILS</cp:lastModifiedBy>
  <cp:revision>16</cp:revision>
  <dcterms:created xsi:type="dcterms:W3CDTF">2013-01-27T09:14:16Z</dcterms:created>
  <dcterms:modified xsi:type="dcterms:W3CDTF">2026-10-06T19:04:02Z</dcterms:modified>
  <cp:category/>
</cp:coreProperties>
</file>