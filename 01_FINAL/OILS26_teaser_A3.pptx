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521"/>
  </p:normalViewPr>
  <p:slideViewPr>
    <p:cSldViewPr snapToGrid="0" snapToObjects="1">
      <p:cViewPr varScale="1">
        <p:scale>
          <a:sx n="54" d="100"/>
          <a:sy n="54" d="100"/>
        </p:scale>
        <p:origin x="328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09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Bloom artwork" descr="bloom_overlay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  <p:sp>
        <p:nvSpPr>
          <p:cNvPr id="4" name="Sponsor band"/>
          <p:cNvSpPr/>
          <p:nvPr/>
        </p:nvSpPr>
        <p:spPr>
          <a:xfrm>
            <a:off x="0" y="13120200"/>
            <a:ext cx="10692000" cy="1603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Social bar"/>
          <p:cNvSpPr/>
          <p:nvPr/>
        </p:nvSpPr>
        <p:spPr>
          <a:xfrm>
            <a:off x="0" y="14724000"/>
            <a:ext cx="10692000" cy="396000"/>
          </a:xfrm>
          <a:prstGeom prst="rect">
            <a:avLst/>
          </a:prstGeom>
          <a:solidFill>
            <a:srgbClr val="0B3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QR frame"/>
          <p:cNvSpPr/>
          <p:nvPr/>
        </p:nvSpPr>
        <p:spPr>
          <a:xfrm>
            <a:off x="7979400" y="7758000"/>
            <a:ext cx="1960200" cy="196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0" name="Divider"/>
          <p:cNvCxnSpPr/>
          <p:nvPr/>
        </p:nvCxnSpPr>
        <p:spPr>
          <a:xfrm>
            <a:off x="752400" y="7540954"/>
            <a:ext cx="9187200" cy="0"/>
          </a:xfrm>
          <a:prstGeom prst="line">
            <a:avLst/>
          </a:prstGeom>
          <a:ln w="9900">
            <a:solidFill>
              <a:srgbClr val="4D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gister button"/>
          <p:cNvSpPr/>
          <p:nvPr/>
        </p:nvSpPr>
        <p:spPr>
          <a:xfrm>
            <a:off x="1401379" y="9366985"/>
            <a:ext cx="3326400" cy="732600"/>
          </a:xfrm>
          <a:prstGeom prst="roundRect">
            <a:avLst>
              <a:gd name="adj" fmla="val 50000"/>
            </a:avLst>
          </a:prstGeom>
          <a:solidFill>
            <a:srgbClr val="7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315" b="1" dirty="0">
                <a:solidFill>
                  <a:srgbClr val="08214F"/>
                </a:solidFill>
                <a:latin typeface="Eurostile"/>
              </a:rPr>
              <a:t>Register Today!</a:t>
            </a:r>
          </a:p>
        </p:txBody>
      </p:sp>
      <p:sp>
        <p:nvSpPr>
          <p:cNvPr id="12" name="QR caption"/>
          <p:cNvSpPr txBox="1"/>
          <p:nvPr/>
        </p:nvSpPr>
        <p:spPr>
          <a:xfrm>
            <a:off x="7806383" y="9867441"/>
            <a:ext cx="2306233" cy="255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63" b="1" spc="223" dirty="0">
                <a:solidFill>
                  <a:schemeClr val="bg1"/>
                </a:solidFill>
                <a:latin typeface="Eurostile"/>
              </a:rPr>
              <a:t>SCAN TO REGISTER</a:t>
            </a:r>
          </a:p>
        </p:txBody>
      </p:sp>
      <p:sp>
        <p:nvSpPr>
          <p:cNvPr id="30" name="QR fallback link"/>
          <p:cNvSpPr txBox="1"/>
          <p:nvPr/>
        </p:nvSpPr>
        <p:spPr>
          <a:xfrm>
            <a:off x="8128367" y="14789684"/>
            <a:ext cx="2306233" cy="255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63" b="1" dirty="0">
                <a:solidFill>
                  <a:schemeClr val="bg1"/>
                </a:solidFill>
                <a:latin typeface="Eurostile"/>
              </a:rPr>
              <a:t>b2match.com/e/oils2026</a:t>
            </a:r>
          </a:p>
        </p:txBody>
      </p:sp>
      <p:pic>
        <p:nvPicPr>
          <p:cNvPr id="13" name="Linkedin" descr="icon_linked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455" y="14818051"/>
            <a:ext cx="207900" cy="207900"/>
          </a:xfrm>
          <a:prstGeom prst="rect">
            <a:avLst/>
          </a:prstGeom>
        </p:spPr>
      </p:pic>
      <p:pic>
        <p:nvPicPr>
          <p:cNvPr id="14" name="Facebook" descr="icon_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355" y="14818051"/>
            <a:ext cx="207900" cy="207900"/>
          </a:xfrm>
          <a:prstGeom prst="rect">
            <a:avLst/>
          </a:prstGeom>
        </p:spPr>
      </p:pic>
      <p:pic>
        <p:nvPicPr>
          <p:cNvPr id="15" name="X" descr="icon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255" y="14818051"/>
            <a:ext cx="207900" cy="207900"/>
          </a:xfrm>
          <a:prstGeom prst="rect">
            <a:avLst/>
          </a:prstGeom>
        </p:spPr>
      </p:pic>
      <p:pic>
        <p:nvPicPr>
          <p:cNvPr id="16" name="Bluesky" descr="icon_blue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155" y="14818051"/>
            <a:ext cx="207900" cy="207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2000" y="2507814"/>
            <a:ext cx="372698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7FC4E8"/>
                </a:solidFill>
                <a:latin typeface="Eurostile"/>
              </a:rPr>
              <a:t>#OILS26 Conference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00" y="3227069"/>
            <a:ext cx="6284579" cy="2426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78788"/>
              </a:lnSpc>
            </a:pPr>
            <a:r>
              <a:rPr sz="9978" b="1" dirty="0">
                <a:solidFill>
                  <a:srgbClr val="FFFFFF"/>
                </a:solidFill>
                <a:latin typeface="Eurostile"/>
              </a:rPr>
              <a:t>From Bit to</a:t>
            </a:r>
          </a:p>
          <a:p>
            <a:pPr algn="l">
              <a:lnSpc>
                <a:spcPct val="78788"/>
              </a:lnSpc>
            </a:pPr>
            <a:r>
              <a:rPr sz="9978" b="1" dirty="0">
                <a:solidFill>
                  <a:srgbClr val="FFFFFF"/>
                </a:solidFill>
                <a:latin typeface="Eurostile"/>
              </a:rPr>
              <a:t>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999" y="5731916"/>
            <a:ext cx="9103393" cy="1218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1515"/>
              </a:lnSpc>
            </a:pPr>
            <a:r>
              <a:rPr sz="4000" b="0" dirty="0">
                <a:solidFill>
                  <a:srgbClr val="C3D7EE"/>
                </a:solidFill>
                <a:latin typeface="Eurostile"/>
              </a:rPr>
              <a:t>Shaping </a:t>
            </a:r>
            <a:r>
              <a:rPr sz="4000" b="0" dirty="0" err="1">
                <a:solidFill>
                  <a:srgbClr val="C3D7EE"/>
                </a:solidFill>
                <a:latin typeface="Eurostile"/>
              </a:rPr>
              <a:t>sust</a:t>
            </a:r>
            <a:r>
              <a:rPr lang="en-US" sz="4000" b="1" dirty="0" err="1">
                <a:solidFill>
                  <a:srgbClr val="C3D7EE"/>
                </a:solidFill>
                <a:latin typeface="Eurostile"/>
              </a:rPr>
              <a:t>AI</a:t>
            </a:r>
            <a:r>
              <a:rPr sz="4000" b="0" dirty="0" err="1">
                <a:solidFill>
                  <a:srgbClr val="C3D7EE"/>
                </a:solidFill>
                <a:latin typeface="Eurostile"/>
              </a:rPr>
              <a:t>nable</a:t>
            </a:r>
            <a:r>
              <a:rPr sz="4000" b="0" dirty="0">
                <a:solidFill>
                  <a:srgbClr val="C3D7EE"/>
                </a:solidFill>
                <a:latin typeface="Eurostile"/>
              </a:rPr>
              <a:t> &amp; ethical</a:t>
            </a:r>
          </a:p>
          <a:p>
            <a:pPr algn="l">
              <a:lnSpc>
                <a:spcPct val="101515"/>
              </a:lnSpc>
            </a:pPr>
            <a:r>
              <a:rPr sz="4000" b="0" dirty="0">
                <a:solidFill>
                  <a:srgbClr val="C3D7EE"/>
                </a:solidFill>
                <a:latin typeface="Eurostile"/>
              </a:rPr>
              <a:t>innovation in life sciences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7892961"/>
            <a:ext cx="5338714" cy="6229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773" b="1" dirty="0">
                <a:solidFill>
                  <a:srgbClr val="7FC4E8"/>
                </a:solidFill>
                <a:latin typeface="Eurostile"/>
              </a:rPr>
              <a:t>20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8497009"/>
            <a:ext cx="5700707" cy="3822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15" b="0" dirty="0">
                <a:solidFill>
                  <a:srgbClr val="E4EEFA"/>
                </a:solidFill>
                <a:latin typeface="Eurostile"/>
              </a:rPr>
              <a:t>UNIVERSITY OF ZURICH, SWITZERLAND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400" y="14800506"/>
            <a:ext cx="1712274" cy="2689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29" b="1">
                <a:solidFill>
                  <a:srgbClr val="FFFFFF"/>
                </a:solidFill>
                <a:latin typeface="Eurostile"/>
              </a:rPr>
              <a:t>Follow us 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0355" y="14800506"/>
            <a:ext cx="2165031" cy="2689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29" b="0" dirty="0">
                <a:solidFill>
                  <a:srgbClr val="FFFFFF"/>
                </a:solidFill>
                <a:latin typeface="Eurostile"/>
              </a:rPr>
              <a:t>@</a:t>
            </a:r>
            <a:r>
              <a:rPr sz="1629" b="0" dirty="0" err="1">
                <a:solidFill>
                  <a:srgbClr val="FFFFFF"/>
                </a:solidFill>
                <a:latin typeface="Eurostile"/>
              </a:rPr>
              <a:t>OpenLifescience</a:t>
            </a:r>
            <a:endParaRPr sz="1629" b="0" dirty="0">
              <a:solidFill>
                <a:srgbClr val="FFFFFF"/>
              </a:solidFill>
              <a:latin typeface="Eurostile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A612A3-9D9A-B806-41C6-00B86E2109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400" y="7758000"/>
            <a:ext cx="1960200" cy="1960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3010A0AA-29A0-89B5-0D8E-247509A4D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100" y="681414"/>
            <a:ext cx="2787300" cy="1247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40EC9-2AEF-A346-8B84-49A81D8D66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30" b="17768"/>
          <a:stretch>
            <a:fillRect/>
          </a:stretch>
        </p:blipFill>
        <p:spPr>
          <a:xfrm>
            <a:off x="2914325" y="13858247"/>
            <a:ext cx="2117091" cy="7874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63559B4-6F1F-ADEA-86EF-F5E6C7C6AD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055" y="13558769"/>
            <a:ext cx="2620712" cy="5031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E5DE71B-7F10-6423-CEE2-BB95362EBB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155" y="14061986"/>
            <a:ext cx="2215017" cy="52793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1D3585E-0B55-6646-7D4B-1173465E35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259" y="14255639"/>
            <a:ext cx="2431105" cy="340913"/>
          </a:xfrm>
          <a:prstGeom prst="rect">
            <a:avLst/>
          </a:prstGeom>
        </p:spPr>
      </p:pic>
      <p:sp>
        <p:nvSpPr>
          <p:cNvPr id="48" name="QR caption">
            <a:extLst>
              <a:ext uri="{FF2B5EF4-FFF2-40B4-BE49-F238E27FC236}">
                <a16:creationId xmlns:a16="http://schemas.microsoft.com/office/drawing/2014/main" id="{4DA45078-569E-F991-4C4C-4A90273EC8AC}"/>
              </a:ext>
            </a:extLst>
          </p:cNvPr>
          <p:cNvSpPr txBox="1"/>
          <p:nvPr/>
        </p:nvSpPr>
        <p:spPr>
          <a:xfrm>
            <a:off x="177370" y="13221187"/>
            <a:ext cx="2577478" cy="255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663" b="1" spc="223" dirty="0">
                <a:latin typeface="Eurostile"/>
              </a:rPr>
              <a:t>Sponsors &amp; Partners:</a:t>
            </a:r>
            <a:endParaRPr sz="1663" b="1" spc="223" dirty="0">
              <a:latin typeface="Eurostil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173DF-2B06-5C66-1DD8-521179CD5B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13304" y="13227969"/>
            <a:ext cx="2158804" cy="753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D8494-46A6-6649-595D-4A9CDAC4DF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7268" y="13400743"/>
            <a:ext cx="1708125" cy="47190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2BBC28E-BD9D-803F-2618-8C458A74952A}"/>
              </a:ext>
            </a:extLst>
          </p:cNvPr>
          <p:cNvGrpSpPr/>
          <p:nvPr/>
        </p:nvGrpSpPr>
        <p:grpSpPr>
          <a:xfrm>
            <a:off x="8275200" y="14113514"/>
            <a:ext cx="1810773" cy="522404"/>
            <a:chOff x="299560" y="9410774"/>
            <a:chExt cx="1915412" cy="55259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BDB0F38-4830-BDAE-17CA-CBD9D89B3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0685" t="11110" r="7847" b="50497"/>
            <a:stretch>
              <a:fillRect/>
            </a:stretch>
          </p:blipFill>
          <p:spPr>
            <a:xfrm>
              <a:off x="299560" y="9410774"/>
              <a:ext cx="1028626" cy="55259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B713F00-4D54-40F8-CF3D-2F171CFF5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8183" t="50812" r="7847" b="15553"/>
            <a:stretch>
              <a:fillRect/>
            </a:stretch>
          </p:blipFill>
          <p:spPr>
            <a:xfrm>
              <a:off x="1087974" y="9461350"/>
              <a:ext cx="1126998" cy="451440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6FA3AB71-FF2E-603C-3374-588AAC91C4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0885" y="13262748"/>
            <a:ext cx="1285890" cy="668395"/>
          </a:xfrm>
          <a:prstGeom prst="rect">
            <a:avLst/>
          </a:prstGeom>
        </p:spPr>
      </p:pic>
      <p:sp>
        <p:nvSpPr>
          <p:cNvPr id="49" name="Roche visit card"/>
          <p:cNvSpPr/>
          <p:nvPr/>
        </p:nvSpPr>
        <p:spPr>
          <a:xfrm>
            <a:off x="752400" y="10591356"/>
            <a:ext cx="9187200" cy="206084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Roche visit logo" descr="logo_roch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8400" y="11135253"/>
            <a:ext cx="1872000" cy="973050"/>
          </a:xfrm>
          <a:prstGeom prst="rect">
            <a:avLst/>
          </a:prstGeom>
        </p:spPr>
      </p:pic>
      <p:cxnSp>
        <p:nvCxnSpPr>
          <p:cNvPr id="51" name="Roche separator"/>
          <p:cNvCxnSpPr/>
          <p:nvPr/>
        </p:nvCxnSpPr>
        <p:spPr>
          <a:xfrm>
            <a:off x="3344400" y="10879356"/>
            <a:ext cx="0" cy="1484844"/>
          </a:xfrm>
          <a:prstGeom prst="line">
            <a:avLst/>
          </a:prstGeom>
          <a:ln w="9525">
            <a:solidFill>
              <a:srgbClr val="C9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che kicker"/>
          <p:cNvSpPr txBox="1"/>
          <p:nvPr/>
        </p:nvSpPr>
        <p:spPr>
          <a:xfrm>
            <a:off x="3668400" y="10910778"/>
            <a:ext cx="59472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spc="160">
                <a:solidFill>
                  <a:srgbClr val="0B41CD"/>
                </a:solidFill>
                <a:latin typeface="Eurostile"/>
                <a:ea typeface="Eurostile"/>
                <a:cs typeface="Eurostile"/>
              </a:rPr>
              <a:t>ROCHE SITE VISIT  |  WEDNESDAY 21 OCTOBER</a:t>
            </a:r>
          </a:p>
        </p:txBody>
      </p:sp>
      <p:sp>
        <p:nvSpPr>
          <p:cNvPr id="53" name="Roche headline"/>
          <p:cNvSpPr txBox="1"/>
          <p:nvPr/>
        </p:nvSpPr>
        <p:spPr>
          <a:xfrm>
            <a:off x="3668400" y="11180778"/>
            <a:ext cx="5947200" cy="4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Visit Roche in Basel</a:t>
            </a:r>
          </a:p>
        </p:txBody>
      </p:sp>
      <p:sp>
        <p:nvSpPr>
          <p:cNvPr id="54" name="Roche detail"/>
          <p:cNvSpPr txBox="1"/>
          <p:nvPr/>
        </p:nvSpPr>
        <p:spPr>
          <a:xfrm>
            <a:off x="3668400" y="11684778"/>
            <a:ext cx="59472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Limited places for registered OILS26 attendees.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Express interest by 15 October on the event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76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Eurostile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OILS</cp:lastModifiedBy>
  <cp:revision>14</cp:revision>
  <dcterms:created xsi:type="dcterms:W3CDTF">2013-01-27T09:14:16Z</dcterms:created>
  <dcterms:modified xsi:type="dcterms:W3CDTF">2026-10-03T21:36:10Z</dcterms:modified>
  <cp:category/>
</cp:coreProperties>
</file>