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21031200"/>
  <p:notesSz cx="210312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ILS pattern backgrou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4630400" cy="2103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21031200"/>
          </a:xfrm>
          <a:prstGeom prst="rect">
            <a:avLst/>
          </a:prstGeom>
          <a:solidFill>
            <a:srgbClr val="061433">
              <a:alpha val="38000"/>
            </a:srgbClr>
          </a:solidFill>
          <a:ln/>
        </p:spPr>
      </p:sp>
      <p:pic>
        <p:nvPicPr>
          <p:cNvPr id="4" name="Image 1" descr="OIL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3017520" cy="135331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97280" y="2606040"/>
            <a:ext cx="1243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12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From Bit to Bench</a:t>
            </a:r>
            <a:endParaRPr lang="en-US" sz="6912" dirty="0"/>
          </a:p>
        </p:txBody>
      </p:sp>
      <p:sp>
        <p:nvSpPr>
          <p:cNvPr id="6" name="Text 2"/>
          <p:cNvSpPr txBox="1"/>
          <p:nvPr/>
        </p:nvSpPr>
        <p:spPr>
          <a:xfrm>
            <a:off x="1097280" y="3703320"/>
            <a:ext cx="1243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64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20 OCTOBER 2026</a:t>
            </a:r>
            <a:endParaRPr lang="en-US" sz="4464" dirty="0"/>
          </a:p>
        </p:txBody>
      </p:sp>
      <p:sp>
        <p:nvSpPr>
          <p:cNvPr id="7" name="Text 3"/>
          <p:cNvSpPr txBox="1"/>
          <p:nvPr/>
        </p:nvSpPr>
        <p:spPr>
          <a:xfrm>
            <a:off x="1097280" y="4434840"/>
            <a:ext cx="1243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48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ZURICH, SWITZERLAND</a:t>
            </a:r>
            <a:endParaRPr lang="en-US" sz="2448" dirty="0"/>
          </a:p>
        </p:txBody>
      </p:sp>
      <p:sp>
        <p:nvSpPr>
          <p:cNvPr id="8" name="Shape 4"/>
          <p:cNvSpPr/>
          <p:nvPr/>
        </p:nvSpPr>
        <p:spPr>
          <a:xfrm>
            <a:off x="1097280" y="5084064"/>
            <a:ext cx="12435840" cy="18288"/>
          </a:xfrm>
          <a:prstGeom prst="rect">
            <a:avLst/>
          </a:prstGeom>
          <a:solidFill>
            <a:srgbClr val="8CCBF2">
              <a:alpha val="60000"/>
            </a:srgbClr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097280" y="5431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09:00</a:t>
            </a:r>
            <a:endParaRPr lang="en-US" sz="3456" dirty="0"/>
          </a:p>
        </p:txBody>
      </p:sp>
      <p:sp>
        <p:nvSpPr>
          <p:cNvPr id="10" name="Text 6"/>
          <p:cNvSpPr txBox="1"/>
          <p:nvPr/>
        </p:nvSpPr>
        <p:spPr>
          <a:xfrm>
            <a:off x="3063240" y="5431536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Ceremony</a:t>
            </a:r>
            <a:endParaRPr lang="en-US" sz="3168" dirty="0"/>
          </a:p>
        </p:txBody>
      </p:sp>
      <p:sp>
        <p:nvSpPr>
          <p:cNvPr id="11" name="Shape 7"/>
          <p:cNvSpPr/>
          <p:nvPr/>
        </p:nvSpPr>
        <p:spPr>
          <a:xfrm>
            <a:off x="1097280" y="599846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097280" y="6327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09:30</a:t>
            </a:r>
            <a:endParaRPr lang="en-US" sz="3456" dirty="0"/>
          </a:p>
        </p:txBody>
      </p:sp>
      <p:sp>
        <p:nvSpPr>
          <p:cNvPr id="13" name="Text 9"/>
          <p:cNvSpPr txBox="1"/>
          <p:nvPr/>
        </p:nvSpPr>
        <p:spPr>
          <a:xfrm>
            <a:off x="3063240" y="6291072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spc="300" kern="0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 1</a:t>
            </a:r>
            <a:pPr indent="0" marL="0">
              <a:buNone/>
            </a:pPr>
            <a:r>
              <a:rPr lang="en-US" sz="216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Lizbé Koekemoer</a:t>
            </a:r>
            <a:endParaRPr lang="en-US" sz="2160" dirty="0"/>
          </a:p>
        </p:txBody>
      </p:sp>
      <p:sp>
        <p:nvSpPr>
          <p:cNvPr id="14" name="Text 10"/>
          <p:cNvSpPr txBox="1"/>
          <p:nvPr/>
        </p:nvSpPr>
        <p:spPr>
          <a:xfrm>
            <a:off x="3063240" y="6711696"/>
            <a:ext cx="10469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Feeding the Models: Open Data for AI-Driven Drug Discovery</a:t>
            </a:r>
            <a:endParaRPr lang="en-US" sz="3024" dirty="0"/>
          </a:p>
        </p:txBody>
      </p:sp>
      <p:sp>
        <p:nvSpPr>
          <p:cNvPr id="15" name="Shape 11"/>
          <p:cNvSpPr/>
          <p:nvPr/>
        </p:nvSpPr>
        <p:spPr>
          <a:xfrm>
            <a:off x="1097280" y="778154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97280" y="8110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10:15</a:t>
            </a:r>
            <a:endParaRPr lang="en-US" sz="3456" dirty="0"/>
          </a:p>
        </p:txBody>
      </p:sp>
      <p:sp>
        <p:nvSpPr>
          <p:cNvPr id="17" name="Text 13"/>
          <p:cNvSpPr txBox="1"/>
          <p:nvPr/>
        </p:nvSpPr>
        <p:spPr>
          <a:xfrm>
            <a:off x="3063240" y="8074152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spc="300" kern="0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pPr indent="0" marL="0">
              <a:buNone/>
            </a:pPr>
            <a:r>
              <a:rPr lang="en-US" sz="216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Jilles Vreeken · Ellen Carbo · Fergus Imrie</a:t>
            </a:r>
            <a:endParaRPr lang="en-US" sz="2160" dirty="0"/>
          </a:p>
        </p:txBody>
      </p:sp>
      <p:sp>
        <p:nvSpPr>
          <p:cNvPr id="18" name="Text 14"/>
          <p:cNvSpPr txBox="1"/>
          <p:nvPr/>
        </p:nvSpPr>
        <p:spPr>
          <a:xfrm>
            <a:off x="3063240" y="8494776"/>
            <a:ext cx="10469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AI: Data Quality, Limitations &amp; the Future of Models That Understand Science</a:t>
            </a:r>
            <a:endParaRPr lang="en-US" sz="3024" dirty="0"/>
          </a:p>
        </p:txBody>
      </p:sp>
      <p:sp>
        <p:nvSpPr>
          <p:cNvPr id="19" name="Shape 15"/>
          <p:cNvSpPr/>
          <p:nvPr/>
        </p:nvSpPr>
        <p:spPr>
          <a:xfrm>
            <a:off x="1097280" y="956462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097280" y="991209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11:15</a:t>
            </a:r>
            <a:endParaRPr lang="en-US" sz="3456" dirty="0"/>
          </a:p>
        </p:txBody>
      </p:sp>
      <p:sp>
        <p:nvSpPr>
          <p:cNvPr id="21" name="Text 17"/>
          <p:cNvSpPr txBox="1"/>
          <p:nvPr/>
        </p:nvSpPr>
        <p:spPr>
          <a:xfrm>
            <a:off x="3063240" y="9912096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68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Break</a:t>
            </a:r>
            <a:endParaRPr lang="en-US" sz="3168" dirty="0"/>
          </a:p>
        </p:txBody>
      </p:sp>
      <p:sp>
        <p:nvSpPr>
          <p:cNvPr id="22" name="Shape 18"/>
          <p:cNvSpPr/>
          <p:nvPr/>
        </p:nvSpPr>
        <p:spPr>
          <a:xfrm>
            <a:off x="1097280" y="1047902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1097280" y="10808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11:45</a:t>
            </a:r>
            <a:endParaRPr lang="en-US" sz="3456" dirty="0"/>
          </a:p>
        </p:txBody>
      </p:sp>
      <p:sp>
        <p:nvSpPr>
          <p:cNvPr id="24" name="Text 20"/>
          <p:cNvSpPr txBox="1"/>
          <p:nvPr/>
        </p:nvSpPr>
        <p:spPr>
          <a:xfrm>
            <a:off x="3063240" y="10771632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spc="300" kern="0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1</a:t>
            </a:r>
            <a:pPr indent="0" marL="0">
              <a:buNone/>
            </a:pPr>
            <a:r>
              <a:rPr lang="en-US" sz="216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Sebastian Kahlert · Pernilla Sörme</a:t>
            </a:r>
            <a:endParaRPr lang="en-US" sz="2160" dirty="0"/>
          </a:p>
        </p:txBody>
      </p:sp>
      <p:sp>
        <p:nvSpPr>
          <p:cNvPr id="25" name="Text 21"/>
          <p:cNvSpPr txBox="1"/>
          <p:nvPr/>
        </p:nvSpPr>
        <p:spPr>
          <a:xfrm>
            <a:off x="3063240" y="11192256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Practice in the Lab</a:t>
            </a:r>
            <a:endParaRPr lang="en-US" sz="3024" dirty="0"/>
          </a:p>
        </p:txBody>
      </p:sp>
      <p:sp>
        <p:nvSpPr>
          <p:cNvPr id="26" name="Shape 22"/>
          <p:cNvSpPr/>
          <p:nvPr/>
        </p:nvSpPr>
        <p:spPr>
          <a:xfrm>
            <a:off x="1097280" y="1180490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97280" y="121523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13:00</a:t>
            </a:r>
            <a:endParaRPr lang="en-US" sz="3456" dirty="0"/>
          </a:p>
        </p:txBody>
      </p:sp>
      <p:sp>
        <p:nvSpPr>
          <p:cNvPr id="28" name="Text 24"/>
          <p:cNvSpPr txBox="1"/>
          <p:nvPr/>
        </p:nvSpPr>
        <p:spPr>
          <a:xfrm>
            <a:off x="3063240" y="12152376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68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 Break</a:t>
            </a:r>
            <a:endParaRPr lang="en-US" sz="3168" dirty="0"/>
          </a:p>
        </p:txBody>
      </p:sp>
      <p:sp>
        <p:nvSpPr>
          <p:cNvPr id="29" name="Shape 25"/>
          <p:cNvSpPr/>
          <p:nvPr/>
        </p:nvSpPr>
        <p:spPr>
          <a:xfrm>
            <a:off x="1097280" y="1271930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1097280" y="13048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14:00</a:t>
            </a:r>
            <a:endParaRPr lang="en-US" sz="3456" dirty="0"/>
          </a:p>
        </p:txBody>
      </p:sp>
      <p:sp>
        <p:nvSpPr>
          <p:cNvPr id="31" name="Text 27"/>
          <p:cNvSpPr txBox="1"/>
          <p:nvPr/>
        </p:nvSpPr>
        <p:spPr>
          <a:xfrm>
            <a:off x="3063240" y="13011912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spc="300" kern="0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2</a:t>
            </a:r>
            <a:pPr indent="0" marL="0">
              <a:buNone/>
            </a:pPr>
            <a:r>
              <a:rPr lang="en-US" sz="216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Joseph Heng</a:t>
            </a:r>
            <a:endParaRPr lang="en-US" sz="2160" dirty="0"/>
          </a:p>
        </p:txBody>
      </p:sp>
      <p:sp>
        <p:nvSpPr>
          <p:cNvPr id="32" name="Text 28"/>
          <p:cNvSpPr txBox="1"/>
          <p:nvPr/>
        </p:nvSpPr>
        <p:spPr>
          <a:xfrm>
            <a:off x="3063240" y="13432536"/>
            <a:ext cx="10469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&amp; Using Open AI Tools, Pre-trained Models and Datasets for Life Sciences</a:t>
            </a:r>
            <a:endParaRPr lang="en-US" sz="3024" dirty="0"/>
          </a:p>
        </p:txBody>
      </p:sp>
      <p:sp>
        <p:nvSpPr>
          <p:cNvPr id="33" name="Shape 29"/>
          <p:cNvSpPr/>
          <p:nvPr/>
        </p:nvSpPr>
        <p:spPr>
          <a:xfrm>
            <a:off x="1097280" y="1450238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1097280" y="148498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15:15</a:t>
            </a:r>
            <a:endParaRPr lang="en-US" sz="3456" dirty="0"/>
          </a:p>
        </p:txBody>
      </p:sp>
      <p:sp>
        <p:nvSpPr>
          <p:cNvPr id="35" name="Text 31"/>
          <p:cNvSpPr txBox="1"/>
          <p:nvPr/>
        </p:nvSpPr>
        <p:spPr>
          <a:xfrm>
            <a:off x="3063240" y="14849856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68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Break</a:t>
            </a:r>
            <a:endParaRPr lang="en-US" sz="3168" dirty="0"/>
          </a:p>
        </p:txBody>
      </p:sp>
      <p:sp>
        <p:nvSpPr>
          <p:cNvPr id="36" name="Shape 32"/>
          <p:cNvSpPr/>
          <p:nvPr/>
        </p:nvSpPr>
        <p:spPr>
          <a:xfrm>
            <a:off x="1097280" y="1541678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1097280" y="157459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15:45</a:t>
            </a:r>
            <a:endParaRPr lang="en-US" sz="3456" dirty="0"/>
          </a:p>
        </p:txBody>
      </p:sp>
      <p:sp>
        <p:nvSpPr>
          <p:cNvPr id="38" name="Text 34"/>
          <p:cNvSpPr txBox="1"/>
          <p:nvPr/>
        </p:nvSpPr>
        <p:spPr>
          <a:xfrm>
            <a:off x="3063240" y="15709392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spc="300" kern="0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 2</a:t>
            </a:r>
            <a:pPr indent="0" marL="0">
              <a:buNone/>
            </a:pPr>
            <a:r>
              <a:rPr lang="en-US" sz="216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Nicoletta Iacobacci</a:t>
            </a:r>
            <a:endParaRPr lang="en-US" sz="2160" dirty="0"/>
          </a:p>
        </p:txBody>
      </p:sp>
      <p:sp>
        <p:nvSpPr>
          <p:cNvPr id="39" name="Text 35"/>
          <p:cNvSpPr txBox="1"/>
          <p:nvPr/>
        </p:nvSpPr>
        <p:spPr>
          <a:xfrm>
            <a:off x="3063240" y="16130016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Behavioral Layer in AI-Assisted Science</a:t>
            </a:r>
            <a:endParaRPr lang="en-US" sz="3024" dirty="0"/>
          </a:p>
        </p:txBody>
      </p:sp>
      <p:sp>
        <p:nvSpPr>
          <p:cNvPr id="40" name="Shape 36"/>
          <p:cNvSpPr/>
          <p:nvPr/>
        </p:nvSpPr>
        <p:spPr>
          <a:xfrm>
            <a:off x="1097280" y="1674266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1097280" y="170718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16:30</a:t>
            </a:r>
            <a:endParaRPr lang="en-US" sz="3456" dirty="0"/>
          </a:p>
        </p:txBody>
      </p:sp>
      <p:sp>
        <p:nvSpPr>
          <p:cNvPr id="42" name="Text 38"/>
          <p:cNvSpPr txBox="1"/>
          <p:nvPr/>
        </p:nvSpPr>
        <p:spPr>
          <a:xfrm>
            <a:off x="3063240" y="17035272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b="1" spc="300" kern="0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PITCHFEST</a:t>
            </a:r>
            <a:endParaRPr lang="en-US" sz="2160" dirty="0"/>
          </a:p>
        </p:txBody>
      </p:sp>
      <p:sp>
        <p:nvSpPr>
          <p:cNvPr id="43" name="Text 39"/>
          <p:cNvSpPr txBox="1"/>
          <p:nvPr/>
        </p:nvSpPr>
        <p:spPr>
          <a:xfrm>
            <a:off x="3063240" y="17455896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2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Voices: Early-career researchers</a:t>
            </a:r>
            <a:endParaRPr lang="en-US" sz="3024" dirty="0"/>
          </a:p>
        </p:txBody>
      </p:sp>
      <p:sp>
        <p:nvSpPr>
          <p:cNvPr id="44" name="Shape 40"/>
          <p:cNvSpPr/>
          <p:nvPr/>
        </p:nvSpPr>
        <p:spPr>
          <a:xfrm>
            <a:off x="1097280" y="1806854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1097280" y="184160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17:30</a:t>
            </a:r>
            <a:endParaRPr lang="en-US" sz="3456" dirty="0"/>
          </a:p>
        </p:txBody>
      </p:sp>
      <p:sp>
        <p:nvSpPr>
          <p:cNvPr id="46" name="Text 42"/>
          <p:cNvSpPr txBox="1"/>
          <p:nvPr/>
        </p:nvSpPr>
        <p:spPr>
          <a:xfrm>
            <a:off x="3063240" y="18416016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Ceremony — Pitch Winner Awards</a:t>
            </a:r>
            <a:endParaRPr lang="en-US" sz="3168" dirty="0"/>
          </a:p>
        </p:txBody>
      </p:sp>
      <p:sp>
        <p:nvSpPr>
          <p:cNvPr id="47" name="Shape 43"/>
          <p:cNvSpPr/>
          <p:nvPr/>
        </p:nvSpPr>
        <p:spPr>
          <a:xfrm>
            <a:off x="1097280" y="1898294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1097280" y="193304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56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17:45</a:t>
            </a:r>
            <a:endParaRPr lang="en-US" sz="3456" dirty="0"/>
          </a:p>
        </p:txBody>
      </p:sp>
      <p:sp>
        <p:nvSpPr>
          <p:cNvPr id="49" name="Text 45"/>
          <p:cNvSpPr txBox="1"/>
          <p:nvPr/>
        </p:nvSpPr>
        <p:spPr>
          <a:xfrm>
            <a:off x="3063240" y="19330416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68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Apéro</a:t>
            </a:r>
            <a:endParaRPr lang="en-US" sz="3168" dirty="0"/>
          </a:p>
        </p:txBody>
      </p:sp>
      <p:sp>
        <p:nvSpPr>
          <p:cNvPr id="50" name="Shape 46"/>
          <p:cNvSpPr/>
          <p:nvPr/>
        </p:nvSpPr>
        <p:spPr>
          <a:xfrm>
            <a:off x="1097280" y="19897344"/>
            <a:ext cx="12435840" cy="18288"/>
          </a:xfrm>
          <a:prstGeom prst="rect">
            <a:avLst/>
          </a:prstGeom>
          <a:solidFill>
            <a:srgbClr val="5C86B8">
              <a:alpha val="6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OILS26 Luma agenda</dc:title>
  <dc:subject>PptxGenJS Presentation</dc:subject>
  <dc:creator>PptxGenJS</dc:creator>
  <cp:lastModifiedBy>PptxGenJS</cp:lastModifiedBy>
  <cp:revision>1</cp:revision>
  <dcterms:created xsi:type="dcterms:W3CDTF">2026-10-07T08:34:26Z</dcterms:created>
  <dcterms:modified xsi:type="dcterms:W3CDTF">2026-10-07T08:34:26Z</dcterms:modified>
</cp:coreProperties>
</file>