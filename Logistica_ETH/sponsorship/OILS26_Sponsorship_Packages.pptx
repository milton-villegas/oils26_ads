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556480" cy="9875520"/>
          </a:xfrm>
          <a:prstGeom prst="rect">
            <a:avLst/>
          </a:prstGeom>
          <a:solidFill>
            <a:srgbClr val="061433">
              <a:alpha val="78000"/>
            </a:srgbClr>
          </a:solidFill>
          <a:ln/>
        </p:spPr>
      </p:sp>
      <p:pic>
        <p:nvPicPr>
          <p:cNvPr id="4" name="Image 1" descr="OIL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"/>
            <a:ext cx="2103120" cy="9418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0" y="329184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72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How to support us </a:t>
            </a:r>
            <a:pPr indent="0" marL="0">
              <a:buNone/>
            </a:pPr>
            <a:r>
              <a:rPr lang="en-US" sz="5472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#OILS26</a:t>
            </a:r>
            <a:endParaRPr lang="en-US" sz="5472" dirty="0"/>
          </a:p>
        </p:txBody>
      </p:sp>
      <p:sp>
        <p:nvSpPr>
          <p:cNvPr id="6" name="Text 2"/>
          <p:cNvSpPr/>
          <p:nvPr/>
        </p:nvSpPr>
        <p:spPr>
          <a:xfrm>
            <a:off x="3218688" y="1188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packages</a:t>
            </a:r>
            <a:endParaRPr lang="en-US" sz="2160" dirty="0"/>
          </a:p>
        </p:txBody>
      </p:sp>
      <p:sp>
        <p:nvSpPr>
          <p:cNvPr id="7" name="Text 3"/>
          <p:cNvSpPr/>
          <p:nvPr/>
        </p:nvSpPr>
        <p:spPr>
          <a:xfrm>
            <a:off x="731520" y="9418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OILS26  |  20 OCTOBER 2026  |  UNIVERSITY OF ZURICH</a:t>
            </a:r>
            <a:endParaRPr lang="en-US" sz="1440" dirty="0"/>
          </a:p>
        </p:txBody>
      </p:sp>
      <p:sp>
        <p:nvSpPr>
          <p:cNvPr id="8" name="Shape 4"/>
          <p:cNvSpPr/>
          <p:nvPr/>
        </p:nvSpPr>
        <p:spPr>
          <a:xfrm>
            <a:off x="10104120" y="1883664"/>
            <a:ext cx="1645920" cy="1078992"/>
          </a:xfrm>
          <a:prstGeom prst="round2SameRect">
            <a:avLst/>
          </a:prstGeom>
          <a:solidFill>
            <a:srgbClr val="C9D6EC"/>
          </a:solidFill>
          <a:ln/>
        </p:spPr>
      </p:sp>
      <p:sp>
        <p:nvSpPr>
          <p:cNvPr id="9" name="Text 5"/>
          <p:cNvSpPr/>
          <p:nvPr/>
        </p:nvSpPr>
        <p:spPr>
          <a:xfrm>
            <a:off x="10104120" y="1883664"/>
            <a:ext cx="1645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0B2554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Silver</a:t>
            </a:r>
            <a:endParaRPr lang="en-US" sz="2448" dirty="0"/>
          </a:p>
          <a:p>
            <a:pPr algn="ctr" indent="0" marL="0">
              <a:buNone/>
            </a:pPr>
            <a:r>
              <a:rPr lang="en-US" sz="1656" b="1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800</a:t>
            </a:r>
            <a:endParaRPr lang="en-US" sz="2448" dirty="0"/>
          </a:p>
        </p:txBody>
      </p:sp>
      <p:sp>
        <p:nvSpPr>
          <p:cNvPr id="10" name="Shape 6"/>
          <p:cNvSpPr/>
          <p:nvPr/>
        </p:nvSpPr>
        <p:spPr>
          <a:xfrm>
            <a:off x="11795760" y="1883664"/>
            <a:ext cx="1645920" cy="1078992"/>
          </a:xfrm>
          <a:prstGeom prst="round2SameRect">
            <a:avLst/>
          </a:prstGeom>
          <a:solidFill>
            <a:srgbClr val="E3B94A"/>
          </a:solidFill>
          <a:ln/>
        </p:spPr>
      </p:sp>
      <p:sp>
        <p:nvSpPr>
          <p:cNvPr id="11" name="Text 7"/>
          <p:cNvSpPr/>
          <p:nvPr/>
        </p:nvSpPr>
        <p:spPr>
          <a:xfrm>
            <a:off x="11795760" y="1883664"/>
            <a:ext cx="1645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2B1F00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Gold</a:t>
            </a:r>
            <a:endParaRPr lang="en-US" sz="2448" dirty="0"/>
          </a:p>
          <a:p>
            <a:pPr algn="ctr" indent="0" marL="0">
              <a:buNone/>
            </a:pPr>
            <a:r>
              <a:rPr lang="en-US" sz="1656" b="1" dirty="0">
                <a:solidFill>
                  <a:srgbClr val="2B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1600</a:t>
            </a:r>
            <a:endParaRPr lang="en-US" sz="2448" dirty="0"/>
          </a:p>
        </p:txBody>
      </p:sp>
      <p:sp>
        <p:nvSpPr>
          <p:cNvPr id="12" name="Shape 8"/>
          <p:cNvSpPr/>
          <p:nvPr/>
        </p:nvSpPr>
        <p:spPr>
          <a:xfrm>
            <a:off x="13487400" y="1883664"/>
            <a:ext cx="1645920" cy="1078992"/>
          </a:xfrm>
          <a:prstGeom prst="round2SameRect">
            <a:avLst/>
          </a:prstGeom>
          <a:solidFill>
            <a:srgbClr val="9AA9C2"/>
          </a:solidFill>
          <a:ln/>
        </p:spPr>
      </p:sp>
      <p:sp>
        <p:nvSpPr>
          <p:cNvPr id="13" name="Text 9"/>
          <p:cNvSpPr/>
          <p:nvPr/>
        </p:nvSpPr>
        <p:spPr>
          <a:xfrm>
            <a:off x="13487400" y="1883664"/>
            <a:ext cx="1645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0B1B3A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Platinum</a:t>
            </a:r>
            <a:endParaRPr lang="en-US" sz="2448" dirty="0"/>
          </a:p>
          <a:p>
            <a:pPr algn="ctr" indent="0" marL="0">
              <a:buNone/>
            </a:pPr>
            <a:r>
              <a:rPr lang="en-US" sz="1656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3000</a:t>
            </a:r>
            <a:endParaRPr lang="en-US" sz="2448" dirty="0"/>
          </a:p>
        </p:txBody>
      </p:sp>
      <p:sp>
        <p:nvSpPr>
          <p:cNvPr id="14" name="Shape 10"/>
          <p:cNvSpPr/>
          <p:nvPr/>
        </p:nvSpPr>
        <p:spPr>
          <a:xfrm>
            <a:off x="15179040" y="1883664"/>
            <a:ext cx="1645920" cy="1078992"/>
          </a:xfrm>
          <a:prstGeom prst="round2SameRect">
            <a:avLst/>
          </a:prstGeom>
          <a:solidFill>
            <a:srgbClr val="8CCBF2"/>
          </a:solidFill>
          <a:ln/>
        </p:spPr>
      </p:sp>
      <p:sp>
        <p:nvSpPr>
          <p:cNvPr id="15" name="Text 11"/>
          <p:cNvSpPr/>
          <p:nvPr/>
        </p:nvSpPr>
        <p:spPr>
          <a:xfrm>
            <a:off x="15179040" y="1883664"/>
            <a:ext cx="1645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06254E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Plus</a:t>
            </a:r>
            <a:endParaRPr lang="en-US" sz="2448" dirty="0"/>
          </a:p>
          <a:p>
            <a:pPr algn="ctr" indent="0" marL="0">
              <a:buNone/>
            </a:pPr>
            <a:r>
              <a:rPr lang="en-US" sz="1656" b="1" dirty="0">
                <a:solidFill>
                  <a:srgbClr val="062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CHF 1000</a:t>
            </a:r>
            <a:endParaRPr lang="en-US" sz="2448" dirty="0"/>
          </a:p>
        </p:txBody>
      </p:sp>
      <p:sp>
        <p:nvSpPr>
          <p:cNvPr id="16" name="Shape 12"/>
          <p:cNvSpPr/>
          <p:nvPr/>
        </p:nvSpPr>
        <p:spPr>
          <a:xfrm>
            <a:off x="731520" y="3035808"/>
            <a:ext cx="16093440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042416" y="3035808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on conference website, online flyers, posters, opening slides and printed materials</a:t>
            </a:r>
            <a:endParaRPr lang="en-US" sz="1656" dirty="0"/>
          </a:p>
        </p:txBody>
      </p:sp>
      <p:sp>
        <p:nvSpPr>
          <p:cNvPr id="18" name="Shape 14"/>
          <p:cNvSpPr/>
          <p:nvPr/>
        </p:nvSpPr>
        <p:spPr>
          <a:xfrm>
            <a:off x="10104120" y="3035808"/>
            <a:ext cx="1645920" cy="713232"/>
          </a:xfrm>
          <a:prstGeom prst="rect">
            <a:avLst/>
          </a:prstGeom>
          <a:solidFill>
            <a:srgbClr val="C9D6EC">
              <a:alpha val="2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10735056" y="3200400"/>
            <a:ext cx="384048" cy="384048"/>
          </a:xfrm>
          <a:prstGeom prst="ellipse">
            <a:avLst/>
          </a:prstGeom>
          <a:solidFill>
            <a:srgbClr val="C9D6EC"/>
          </a:solidFill>
          <a:ln/>
        </p:spPr>
      </p:sp>
      <p:sp>
        <p:nvSpPr>
          <p:cNvPr id="20" name="Text 16"/>
          <p:cNvSpPr/>
          <p:nvPr/>
        </p:nvSpPr>
        <p:spPr>
          <a:xfrm>
            <a:off x="10735056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21" name="Shape 17"/>
          <p:cNvSpPr/>
          <p:nvPr/>
        </p:nvSpPr>
        <p:spPr>
          <a:xfrm>
            <a:off x="11795760" y="3035808"/>
            <a:ext cx="1645920" cy="713232"/>
          </a:xfrm>
          <a:prstGeom prst="rect">
            <a:avLst/>
          </a:prstGeom>
          <a:solidFill>
            <a:srgbClr val="E3B94A">
              <a:alpha val="20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12426696" y="3200400"/>
            <a:ext cx="384048" cy="384048"/>
          </a:xfrm>
          <a:prstGeom prst="ellipse">
            <a:avLst/>
          </a:prstGeom>
          <a:solidFill>
            <a:srgbClr val="E3B94A"/>
          </a:solidFill>
          <a:ln/>
        </p:spPr>
      </p:sp>
      <p:sp>
        <p:nvSpPr>
          <p:cNvPr id="23" name="Text 19"/>
          <p:cNvSpPr/>
          <p:nvPr/>
        </p:nvSpPr>
        <p:spPr>
          <a:xfrm>
            <a:off x="12426696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2B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24" name="Shape 20"/>
          <p:cNvSpPr/>
          <p:nvPr/>
        </p:nvSpPr>
        <p:spPr>
          <a:xfrm>
            <a:off x="13487400" y="3035808"/>
            <a:ext cx="1645920" cy="713232"/>
          </a:xfrm>
          <a:prstGeom prst="rect">
            <a:avLst/>
          </a:prstGeom>
          <a:solidFill>
            <a:srgbClr val="9AA9C2">
              <a:alpha val="20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14118336" y="3200400"/>
            <a:ext cx="384048" cy="384048"/>
          </a:xfrm>
          <a:prstGeom prst="ellipse">
            <a:avLst/>
          </a:prstGeom>
          <a:solidFill>
            <a:srgbClr val="9AA9C2"/>
          </a:solidFill>
          <a:ln/>
        </p:spPr>
      </p:sp>
      <p:sp>
        <p:nvSpPr>
          <p:cNvPr id="26" name="Text 22"/>
          <p:cNvSpPr/>
          <p:nvPr/>
        </p:nvSpPr>
        <p:spPr>
          <a:xfrm>
            <a:off x="14118336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27" name="Shape 23"/>
          <p:cNvSpPr/>
          <p:nvPr/>
        </p:nvSpPr>
        <p:spPr>
          <a:xfrm>
            <a:off x="731520" y="3794760"/>
            <a:ext cx="16093440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1042416" y="379476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the b2match platform: participant marketplace and 1:1 meetings with conference attendees</a:t>
            </a:r>
            <a:endParaRPr lang="en-US" sz="1656" dirty="0"/>
          </a:p>
        </p:txBody>
      </p:sp>
      <p:sp>
        <p:nvSpPr>
          <p:cNvPr id="29" name="Shape 25"/>
          <p:cNvSpPr/>
          <p:nvPr/>
        </p:nvSpPr>
        <p:spPr>
          <a:xfrm>
            <a:off x="10104120" y="3794760"/>
            <a:ext cx="1645920" cy="713232"/>
          </a:xfrm>
          <a:prstGeom prst="rect">
            <a:avLst/>
          </a:prstGeom>
          <a:solidFill>
            <a:srgbClr val="C9D6EC">
              <a:alpha val="20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10735056" y="3959352"/>
            <a:ext cx="384048" cy="384048"/>
          </a:xfrm>
          <a:prstGeom prst="ellipse">
            <a:avLst/>
          </a:prstGeom>
          <a:solidFill>
            <a:srgbClr val="C9D6EC"/>
          </a:solidFill>
          <a:ln/>
        </p:spPr>
      </p:sp>
      <p:sp>
        <p:nvSpPr>
          <p:cNvPr id="31" name="Text 27"/>
          <p:cNvSpPr/>
          <p:nvPr/>
        </p:nvSpPr>
        <p:spPr>
          <a:xfrm>
            <a:off x="10735056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B25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32" name="Shape 28"/>
          <p:cNvSpPr/>
          <p:nvPr/>
        </p:nvSpPr>
        <p:spPr>
          <a:xfrm>
            <a:off x="11795760" y="3794760"/>
            <a:ext cx="1645920" cy="713232"/>
          </a:xfrm>
          <a:prstGeom prst="rect">
            <a:avLst/>
          </a:prstGeom>
          <a:solidFill>
            <a:srgbClr val="E3B94A">
              <a:alpha val="20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12426696" y="3959352"/>
            <a:ext cx="384048" cy="384048"/>
          </a:xfrm>
          <a:prstGeom prst="ellipse">
            <a:avLst/>
          </a:prstGeom>
          <a:solidFill>
            <a:srgbClr val="E3B94A"/>
          </a:solidFill>
          <a:ln/>
        </p:spPr>
      </p:sp>
      <p:sp>
        <p:nvSpPr>
          <p:cNvPr id="34" name="Text 30"/>
          <p:cNvSpPr/>
          <p:nvPr/>
        </p:nvSpPr>
        <p:spPr>
          <a:xfrm>
            <a:off x="12426696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2B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35" name="Shape 31"/>
          <p:cNvSpPr/>
          <p:nvPr/>
        </p:nvSpPr>
        <p:spPr>
          <a:xfrm>
            <a:off x="13487400" y="3794760"/>
            <a:ext cx="1645920" cy="713232"/>
          </a:xfrm>
          <a:prstGeom prst="rect">
            <a:avLst/>
          </a:prstGeom>
          <a:solidFill>
            <a:srgbClr val="9AA9C2">
              <a:alpha val="20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14118336" y="3959352"/>
            <a:ext cx="384048" cy="384048"/>
          </a:xfrm>
          <a:prstGeom prst="ellipse">
            <a:avLst/>
          </a:prstGeom>
          <a:solidFill>
            <a:srgbClr val="9AA9C2"/>
          </a:solidFill>
          <a:ln/>
        </p:spPr>
      </p:sp>
      <p:sp>
        <p:nvSpPr>
          <p:cNvPr id="37" name="Text 33"/>
          <p:cNvSpPr/>
          <p:nvPr/>
        </p:nvSpPr>
        <p:spPr>
          <a:xfrm>
            <a:off x="14118336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38" name="Shape 34"/>
          <p:cNvSpPr/>
          <p:nvPr/>
        </p:nvSpPr>
        <p:spPr>
          <a:xfrm>
            <a:off x="731520" y="4553712"/>
            <a:ext cx="16093440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1042416" y="4553712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company promotion talk at Networking Apero</a:t>
            </a:r>
            <a:endParaRPr lang="en-US" sz="1656" dirty="0"/>
          </a:p>
        </p:txBody>
      </p:sp>
      <p:sp>
        <p:nvSpPr>
          <p:cNvPr id="40" name="Shape 36"/>
          <p:cNvSpPr/>
          <p:nvPr/>
        </p:nvSpPr>
        <p:spPr>
          <a:xfrm>
            <a:off x="11795760" y="4553712"/>
            <a:ext cx="1645920" cy="713232"/>
          </a:xfrm>
          <a:prstGeom prst="rect">
            <a:avLst/>
          </a:prstGeom>
          <a:solidFill>
            <a:srgbClr val="E3B94A">
              <a:alpha val="20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12426696" y="4718304"/>
            <a:ext cx="384048" cy="384048"/>
          </a:xfrm>
          <a:prstGeom prst="ellipse">
            <a:avLst/>
          </a:prstGeom>
          <a:solidFill>
            <a:srgbClr val="E3B94A"/>
          </a:solidFill>
          <a:ln/>
        </p:spPr>
      </p:sp>
      <p:sp>
        <p:nvSpPr>
          <p:cNvPr id="42" name="Text 38"/>
          <p:cNvSpPr/>
          <p:nvPr/>
        </p:nvSpPr>
        <p:spPr>
          <a:xfrm>
            <a:off x="12426696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2B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43" name="Shape 39"/>
          <p:cNvSpPr/>
          <p:nvPr/>
        </p:nvSpPr>
        <p:spPr>
          <a:xfrm>
            <a:off x="13487400" y="4553712"/>
            <a:ext cx="1645920" cy="713232"/>
          </a:xfrm>
          <a:prstGeom prst="rect">
            <a:avLst/>
          </a:prstGeom>
          <a:solidFill>
            <a:srgbClr val="9AA9C2">
              <a:alpha val="20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14118336" y="4718304"/>
            <a:ext cx="384048" cy="384048"/>
          </a:xfrm>
          <a:prstGeom prst="ellipse">
            <a:avLst/>
          </a:prstGeom>
          <a:solidFill>
            <a:srgbClr val="9AA9C2"/>
          </a:solidFill>
          <a:ln/>
        </p:spPr>
      </p:sp>
      <p:sp>
        <p:nvSpPr>
          <p:cNvPr id="45" name="Text 41"/>
          <p:cNvSpPr/>
          <p:nvPr/>
        </p:nvSpPr>
        <p:spPr>
          <a:xfrm>
            <a:off x="14118336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46" name="Shape 42"/>
          <p:cNvSpPr/>
          <p:nvPr/>
        </p:nvSpPr>
        <p:spPr>
          <a:xfrm>
            <a:off x="731520" y="5312664"/>
            <a:ext cx="16093440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Text 43"/>
          <p:cNvSpPr/>
          <p:nvPr/>
        </p:nvSpPr>
        <p:spPr>
          <a:xfrm>
            <a:off x="1042416" y="5312664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advertising 1x month prior to conference (LinkedIn/X)</a:t>
            </a:r>
            <a:endParaRPr lang="en-US" sz="1656" dirty="0"/>
          </a:p>
        </p:txBody>
      </p:sp>
      <p:sp>
        <p:nvSpPr>
          <p:cNvPr id="48" name="Shape 44"/>
          <p:cNvSpPr/>
          <p:nvPr/>
        </p:nvSpPr>
        <p:spPr>
          <a:xfrm>
            <a:off x="11795760" y="5312664"/>
            <a:ext cx="1645920" cy="713232"/>
          </a:xfrm>
          <a:prstGeom prst="rect">
            <a:avLst/>
          </a:prstGeom>
          <a:solidFill>
            <a:srgbClr val="E3B94A">
              <a:alpha val="20000"/>
            </a:srgbClr>
          </a:solidFill>
          <a:ln/>
        </p:spPr>
      </p:sp>
      <p:sp>
        <p:nvSpPr>
          <p:cNvPr id="49" name="Shape 45"/>
          <p:cNvSpPr/>
          <p:nvPr/>
        </p:nvSpPr>
        <p:spPr>
          <a:xfrm>
            <a:off x="12426696" y="5477256"/>
            <a:ext cx="384048" cy="384048"/>
          </a:xfrm>
          <a:prstGeom prst="ellipse">
            <a:avLst/>
          </a:prstGeom>
          <a:solidFill>
            <a:srgbClr val="E3B94A"/>
          </a:solidFill>
          <a:ln/>
        </p:spPr>
      </p:sp>
      <p:sp>
        <p:nvSpPr>
          <p:cNvPr id="50" name="Text 46"/>
          <p:cNvSpPr/>
          <p:nvPr/>
        </p:nvSpPr>
        <p:spPr>
          <a:xfrm>
            <a:off x="12426696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2B1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51" name="Shape 47"/>
          <p:cNvSpPr/>
          <p:nvPr/>
        </p:nvSpPr>
        <p:spPr>
          <a:xfrm>
            <a:off x="731520" y="6071616"/>
            <a:ext cx="16093440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2" name="Text 48"/>
          <p:cNvSpPr/>
          <p:nvPr/>
        </p:nvSpPr>
        <p:spPr>
          <a:xfrm>
            <a:off x="1042416" y="6071616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advertising 2x month prior to conference (LinkedIn/X)</a:t>
            </a:r>
            <a:endParaRPr lang="en-US" sz="1656" dirty="0"/>
          </a:p>
        </p:txBody>
      </p:sp>
      <p:sp>
        <p:nvSpPr>
          <p:cNvPr id="53" name="Shape 49"/>
          <p:cNvSpPr/>
          <p:nvPr/>
        </p:nvSpPr>
        <p:spPr>
          <a:xfrm>
            <a:off x="13487400" y="6071616"/>
            <a:ext cx="1645920" cy="713232"/>
          </a:xfrm>
          <a:prstGeom prst="rect">
            <a:avLst/>
          </a:prstGeom>
          <a:solidFill>
            <a:srgbClr val="9AA9C2">
              <a:alpha val="20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14118336" y="6236208"/>
            <a:ext cx="384048" cy="384048"/>
          </a:xfrm>
          <a:prstGeom prst="ellipse">
            <a:avLst/>
          </a:prstGeom>
          <a:solidFill>
            <a:srgbClr val="9AA9C2"/>
          </a:solidFill>
          <a:ln/>
        </p:spPr>
      </p:sp>
      <p:sp>
        <p:nvSpPr>
          <p:cNvPr id="55" name="Text 51"/>
          <p:cNvSpPr/>
          <p:nvPr/>
        </p:nvSpPr>
        <p:spPr>
          <a:xfrm>
            <a:off x="14118336" y="6236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56" name="Shape 52"/>
          <p:cNvSpPr/>
          <p:nvPr/>
        </p:nvSpPr>
        <p:spPr>
          <a:xfrm>
            <a:off x="731520" y="6830568"/>
            <a:ext cx="16093440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7" name="Text 53"/>
          <p:cNvSpPr/>
          <p:nvPr/>
        </p:nvSpPr>
        <p:spPr>
          <a:xfrm>
            <a:off x="1042416" y="6830568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marketing to share company’s content to attendees</a:t>
            </a:r>
            <a:endParaRPr lang="en-US" sz="1656" dirty="0"/>
          </a:p>
        </p:txBody>
      </p:sp>
      <p:sp>
        <p:nvSpPr>
          <p:cNvPr id="58" name="Shape 54"/>
          <p:cNvSpPr/>
          <p:nvPr/>
        </p:nvSpPr>
        <p:spPr>
          <a:xfrm>
            <a:off x="13487400" y="6830568"/>
            <a:ext cx="1645920" cy="713232"/>
          </a:xfrm>
          <a:prstGeom prst="rect">
            <a:avLst/>
          </a:prstGeom>
          <a:solidFill>
            <a:srgbClr val="9AA9C2">
              <a:alpha val="20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14118336" y="6995160"/>
            <a:ext cx="384048" cy="384048"/>
          </a:xfrm>
          <a:prstGeom prst="ellipse">
            <a:avLst/>
          </a:prstGeom>
          <a:solidFill>
            <a:srgbClr val="9AA9C2"/>
          </a:solidFill>
          <a:ln/>
        </p:spPr>
      </p:sp>
      <p:sp>
        <p:nvSpPr>
          <p:cNvPr id="60" name="Text 56"/>
          <p:cNvSpPr/>
          <p:nvPr/>
        </p:nvSpPr>
        <p:spPr>
          <a:xfrm>
            <a:off x="14118336" y="6995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61" name="Shape 57"/>
          <p:cNvSpPr/>
          <p:nvPr/>
        </p:nvSpPr>
        <p:spPr>
          <a:xfrm>
            <a:off x="731520" y="7589520"/>
            <a:ext cx="16093440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2" name="Text 58"/>
          <p:cNvSpPr/>
          <p:nvPr/>
        </p:nvSpPr>
        <p:spPr>
          <a:xfrm>
            <a:off x="1042416" y="7589520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prominent logo on all printed material</a:t>
            </a:r>
            <a:endParaRPr lang="en-US" sz="1656" dirty="0"/>
          </a:p>
        </p:txBody>
      </p:sp>
      <p:sp>
        <p:nvSpPr>
          <p:cNvPr id="63" name="Shape 59"/>
          <p:cNvSpPr/>
          <p:nvPr/>
        </p:nvSpPr>
        <p:spPr>
          <a:xfrm>
            <a:off x="13487400" y="7589520"/>
            <a:ext cx="1645920" cy="713232"/>
          </a:xfrm>
          <a:prstGeom prst="rect">
            <a:avLst/>
          </a:prstGeom>
          <a:solidFill>
            <a:srgbClr val="9AA9C2">
              <a:alpha val="20000"/>
            </a:srgbClr>
          </a:solidFill>
          <a:ln/>
        </p:spPr>
      </p:sp>
      <p:sp>
        <p:nvSpPr>
          <p:cNvPr id="64" name="Shape 60"/>
          <p:cNvSpPr/>
          <p:nvPr/>
        </p:nvSpPr>
        <p:spPr>
          <a:xfrm>
            <a:off x="14118336" y="7754112"/>
            <a:ext cx="384048" cy="384048"/>
          </a:xfrm>
          <a:prstGeom prst="ellipse">
            <a:avLst/>
          </a:prstGeom>
          <a:solidFill>
            <a:srgbClr val="9AA9C2"/>
          </a:solidFill>
          <a:ln/>
        </p:spPr>
      </p:sp>
      <p:sp>
        <p:nvSpPr>
          <p:cNvPr id="65" name="Text 61"/>
          <p:cNvSpPr/>
          <p:nvPr/>
        </p:nvSpPr>
        <p:spPr>
          <a:xfrm>
            <a:off x="14118336" y="7754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  <p:sp>
        <p:nvSpPr>
          <p:cNvPr id="66" name="Shape 62"/>
          <p:cNvSpPr/>
          <p:nvPr/>
        </p:nvSpPr>
        <p:spPr>
          <a:xfrm>
            <a:off x="731520" y="8348472"/>
            <a:ext cx="16093440" cy="713232"/>
          </a:xfrm>
          <a:prstGeom prst="roundRect">
            <a:avLst>
              <a:gd name="adj" fmla="val 17949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7" name="Text 63"/>
          <p:cNvSpPr/>
          <p:nvPr/>
        </p:nvSpPr>
        <p:spPr>
          <a:xfrm>
            <a:off x="1042416" y="8348472"/>
            <a:ext cx="8778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and advertising material displayed during coffee breaks and at the apero, booth/poster during conference, evening apero admission (max. 2)</a:t>
            </a:r>
            <a:endParaRPr lang="en-US" sz="1656" dirty="0"/>
          </a:p>
        </p:txBody>
      </p:sp>
      <p:sp>
        <p:nvSpPr>
          <p:cNvPr id="68" name="Shape 64"/>
          <p:cNvSpPr/>
          <p:nvPr/>
        </p:nvSpPr>
        <p:spPr>
          <a:xfrm>
            <a:off x="15179040" y="8348472"/>
            <a:ext cx="1645920" cy="713232"/>
          </a:xfrm>
          <a:prstGeom prst="rect">
            <a:avLst/>
          </a:prstGeom>
          <a:solidFill>
            <a:srgbClr val="8CCBF2">
              <a:alpha val="20000"/>
            </a:srgbClr>
          </a:solidFill>
          <a:ln/>
        </p:spPr>
      </p:sp>
      <p:sp>
        <p:nvSpPr>
          <p:cNvPr id="69" name="Shape 65"/>
          <p:cNvSpPr/>
          <p:nvPr/>
        </p:nvSpPr>
        <p:spPr>
          <a:xfrm>
            <a:off x="15809976" y="8513064"/>
            <a:ext cx="384048" cy="384048"/>
          </a:xfrm>
          <a:prstGeom prst="ellipse">
            <a:avLst/>
          </a:prstGeom>
          <a:solidFill>
            <a:srgbClr val="8CCBF2"/>
          </a:solidFill>
          <a:ln/>
        </p:spPr>
      </p:sp>
      <p:sp>
        <p:nvSpPr>
          <p:cNvPr id="70" name="Text 66"/>
          <p:cNvSpPr/>
          <p:nvPr/>
        </p:nvSpPr>
        <p:spPr>
          <a:xfrm>
            <a:off x="15809976" y="8513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062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ILS pattern 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7556480" cy="9875520"/>
          </a:xfrm>
          <a:prstGeom prst="rect">
            <a:avLst/>
          </a:prstGeom>
          <a:solidFill>
            <a:srgbClr val="061433">
              <a:alpha val="78000"/>
            </a:srgbClr>
          </a:solidFill>
          <a:ln/>
        </p:spPr>
      </p:sp>
      <p:pic>
        <p:nvPicPr>
          <p:cNvPr id="4" name="Image 1" descr="OIL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"/>
            <a:ext cx="2103120" cy="9418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0" y="329184"/>
            <a:ext cx="1325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72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How to support us </a:t>
            </a:r>
            <a:pPr indent="0" marL="0">
              <a:buNone/>
            </a:pPr>
            <a:r>
              <a:rPr lang="en-US" sz="5472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#OILS26</a:t>
            </a:r>
            <a:endParaRPr lang="en-US" sz="5472" dirty="0"/>
          </a:p>
        </p:txBody>
      </p:sp>
      <p:sp>
        <p:nvSpPr>
          <p:cNvPr id="6" name="Text 2"/>
          <p:cNvSpPr/>
          <p:nvPr/>
        </p:nvSpPr>
        <p:spPr>
          <a:xfrm>
            <a:off x="3218688" y="11887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6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offers</a:t>
            </a:r>
            <a:endParaRPr lang="en-US" sz="2160" dirty="0"/>
          </a:p>
        </p:txBody>
      </p:sp>
      <p:sp>
        <p:nvSpPr>
          <p:cNvPr id="7" name="Text 3"/>
          <p:cNvSpPr/>
          <p:nvPr/>
        </p:nvSpPr>
        <p:spPr>
          <a:xfrm>
            <a:off x="731520" y="9418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8CC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OILS26  |  20 OCTOBER 2026  |  UNIVERSITY OF ZURICH</a:t>
            </a:r>
            <a:endParaRPr lang="en-US" sz="1440" dirty="0"/>
          </a:p>
        </p:txBody>
      </p:sp>
      <p:sp>
        <p:nvSpPr>
          <p:cNvPr id="8" name="Shape 4"/>
          <p:cNvSpPr/>
          <p:nvPr/>
        </p:nvSpPr>
        <p:spPr>
          <a:xfrm>
            <a:off x="13716000" y="1883664"/>
            <a:ext cx="3108960" cy="640080"/>
          </a:xfrm>
          <a:prstGeom prst="round2SameRect">
            <a:avLst/>
          </a:prstGeom>
          <a:solidFill>
            <a:srgbClr val="8CCBF2"/>
          </a:solidFill>
          <a:ln/>
        </p:spPr>
      </p:sp>
      <p:sp>
        <p:nvSpPr>
          <p:cNvPr id="9" name="Text 5"/>
          <p:cNvSpPr/>
          <p:nvPr/>
        </p:nvSpPr>
        <p:spPr>
          <a:xfrm>
            <a:off x="13716000" y="1883664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36" b="1" dirty="0">
                <a:solidFill>
                  <a:srgbClr val="06254E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CHF</a:t>
            </a:r>
            <a:endParaRPr lang="en-US" sz="2736" dirty="0"/>
          </a:p>
        </p:txBody>
      </p:sp>
      <p:sp>
        <p:nvSpPr>
          <p:cNvPr id="10" name="Shape 6"/>
          <p:cNvSpPr/>
          <p:nvPr/>
        </p:nvSpPr>
        <p:spPr>
          <a:xfrm>
            <a:off x="731520" y="2651760"/>
            <a:ext cx="1609344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13716000" y="2651760"/>
            <a:ext cx="3108960" cy="1243584"/>
          </a:xfrm>
          <a:prstGeom prst="rect">
            <a:avLst/>
          </a:prstGeom>
          <a:solidFill>
            <a:srgbClr val="8CCBF2">
              <a:alpha val="2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042416" y="2651760"/>
            <a:ext cx="12252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Sponsorship of One-to-One Matchmaking Session</a:t>
            </a:r>
            <a:endParaRPr lang="en-US" sz="2448" dirty="0"/>
          </a:p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displayed on agenda</a:t>
            </a:r>
            <a:endParaRPr lang="en-US" sz="2448" dirty="0"/>
          </a:p>
        </p:txBody>
      </p:sp>
      <p:sp>
        <p:nvSpPr>
          <p:cNvPr id="13" name="Text 9"/>
          <p:cNvSpPr/>
          <p:nvPr/>
        </p:nvSpPr>
        <p:spPr>
          <a:xfrm>
            <a:off x="13716000" y="2651760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8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350</a:t>
            </a:r>
            <a:endParaRPr lang="en-US" sz="4608" dirty="0"/>
          </a:p>
        </p:txBody>
      </p:sp>
      <p:sp>
        <p:nvSpPr>
          <p:cNvPr id="14" name="Shape 10"/>
          <p:cNvSpPr/>
          <p:nvPr/>
        </p:nvSpPr>
        <p:spPr>
          <a:xfrm>
            <a:off x="731520" y="4005072"/>
            <a:ext cx="1609344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13716000" y="4005072"/>
            <a:ext cx="3108960" cy="1243584"/>
          </a:xfrm>
          <a:prstGeom prst="rect">
            <a:avLst/>
          </a:prstGeom>
          <a:solidFill>
            <a:srgbClr val="8CCBF2">
              <a:alpha val="2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042416" y="4005072"/>
            <a:ext cx="12252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Sponsorship of a conference room</a:t>
            </a:r>
            <a:endParaRPr lang="en-US" sz="2448" dirty="0"/>
          </a:p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of the sponsor for the conference room, advertising material distribution</a:t>
            </a:r>
            <a:endParaRPr lang="en-US" sz="2448" dirty="0"/>
          </a:p>
        </p:txBody>
      </p:sp>
      <p:sp>
        <p:nvSpPr>
          <p:cNvPr id="17" name="Text 13"/>
          <p:cNvSpPr/>
          <p:nvPr/>
        </p:nvSpPr>
        <p:spPr>
          <a:xfrm>
            <a:off x="13716000" y="4005072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8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500</a:t>
            </a:r>
            <a:endParaRPr lang="en-US" sz="4608" dirty="0"/>
          </a:p>
        </p:txBody>
      </p:sp>
      <p:sp>
        <p:nvSpPr>
          <p:cNvPr id="18" name="Shape 14"/>
          <p:cNvSpPr/>
          <p:nvPr/>
        </p:nvSpPr>
        <p:spPr>
          <a:xfrm>
            <a:off x="731520" y="5358384"/>
            <a:ext cx="1609344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13716000" y="5358384"/>
            <a:ext cx="3108960" cy="1243584"/>
          </a:xfrm>
          <a:prstGeom prst="rect">
            <a:avLst/>
          </a:prstGeom>
          <a:solidFill>
            <a:srgbClr val="8CCBF2">
              <a:alpha val="2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1042416" y="5358384"/>
            <a:ext cx="12252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Sponsorship of coffee breaks</a:t>
            </a:r>
            <a:endParaRPr lang="en-US" sz="2448" dirty="0"/>
          </a:p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 agenda and announced during apero</a:t>
            </a:r>
            <a:endParaRPr lang="en-US" sz="2448" dirty="0"/>
          </a:p>
        </p:txBody>
      </p:sp>
      <p:sp>
        <p:nvSpPr>
          <p:cNvPr id="21" name="Text 17"/>
          <p:cNvSpPr/>
          <p:nvPr/>
        </p:nvSpPr>
        <p:spPr>
          <a:xfrm>
            <a:off x="13716000" y="5358384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8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600</a:t>
            </a:r>
            <a:endParaRPr lang="en-US" sz="4608" dirty="0"/>
          </a:p>
        </p:txBody>
      </p:sp>
      <p:sp>
        <p:nvSpPr>
          <p:cNvPr id="22" name="Shape 18"/>
          <p:cNvSpPr/>
          <p:nvPr/>
        </p:nvSpPr>
        <p:spPr>
          <a:xfrm>
            <a:off x="731520" y="6711696"/>
            <a:ext cx="1609344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13716000" y="6711696"/>
            <a:ext cx="3108960" cy="1243584"/>
          </a:xfrm>
          <a:prstGeom prst="rect">
            <a:avLst/>
          </a:prstGeom>
          <a:solidFill>
            <a:srgbClr val="8CCBF2">
              <a:alpha val="2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1042416" y="6711696"/>
            <a:ext cx="12252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Sponsorship of drink catering at the evening Networking Apero</a:t>
            </a:r>
            <a:endParaRPr lang="en-US" sz="2448" dirty="0"/>
          </a:p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 agenda and announced during apero</a:t>
            </a:r>
            <a:endParaRPr lang="en-US" sz="2448" dirty="0"/>
          </a:p>
        </p:txBody>
      </p:sp>
      <p:sp>
        <p:nvSpPr>
          <p:cNvPr id="25" name="Text 21"/>
          <p:cNvSpPr/>
          <p:nvPr/>
        </p:nvSpPr>
        <p:spPr>
          <a:xfrm>
            <a:off x="13716000" y="6711696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8" b="1" dirty="0">
                <a:solidFill>
                  <a:srgbClr val="8CCBF2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1000</a:t>
            </a:r>
            <a:endParaRPr lang="en-US" sz="4608" dirty="0"/>
          </a:p>
        </p:txBody>
      </p:sp>
      <p:sp>
        <p:nvSpPr>
          <p:cNvPr id="26" name="Shape 22"/>
          <p:cNvSpPr/>
          <p:nvPr/>
        </p:nvSpPr>
        <p:spPr>
          <a:xfrm>
            <a:off x="731520" y="8065008"/>
            <a:ext cx="16093440" cy="1243584"/>
          </a:xfrm>
          <a:prstGeom prst="roundRect">
            <a:avLst>
              <a:gd name="adj" fmla="val 1029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13716000" y="8065008"/>
            <a:ext cx="3108960" cy="1243584"/>
          </a:xfrm>
          <a:prstGeom prst="rect">
            <a:avLst/>
          </a:prstGeom>
          <a:solidFill>
            <a:srgbClr val="8CCBF2">
              <a:alpha val="2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1042416" y="8065008"/>
            <a:ext cx="12252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Eurostile" pitchFamily="34" charset="0"/>
                <a:ea typeface="Eurostile" pitchFamily="34" charset="-122"/>
                <a:cs typeface="Eurostile" pitchFamily="34" charset="-120"/>
              </a:rPr>
              <a:t>Sponsorship for Best Innovation &amp; Science pitch, or Poster winner prizes</a:t>
            </a:r>
            <a:endParaRPr lang="en-US" sz="2448" dirty="0"/>
          </a:p>
          <a:p>
            <a:pPr indent="0" marL="0"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prize or giveaway (e.g. iPad, camera, gift certificate, etc.)</a:t>
            </a:r>
            <a:endParaRPr lang="en-US" sz="2448" dirty="0"/>
          </a:p>
        </p:txBody>
      </p:sp>
      <p:sp>
        <p:nvSpPr>
          <p:cNvPr id="29" name="Text 25"/>
          <p:cNvSpPr/>
          <p:nvPr/>
        </p:nvSpPr>
        <p:spPr>
          <a:xfrm>
            <a:off x="13716000" y="8065008"/>
            <a:ext cx="31089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discussion</a:t>
            </a:r>
            <a:endParaRPr lang="en-US" sz="2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OILS26 Sponsorship packages</dc:title>
  <dc:subject>PptxGenJS Presentation</dc:subject>
  <dc:creator>PptxGenJS</dc:creator>
  <cp:lastModifiedBy>PptxGenJS</cp:lastModifiedBy>
  <cp:revision>1</cp:revision>
  <dcterms:created xsi:type="dcterms:W3CDTF">2026-10-08T08:42:28Z</dcterms:created>
  <dcterms:modified xsi:type="dcterms:W3CDTF">2026-10-08T08:42:28Z</dcterms:modified>
</cp:coreProperties>
</file>